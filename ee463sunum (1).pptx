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4" r:id="rId4"/>
    <p:sldId id="257" r:id="rId5"/>
    <p:sldId id="265" r:id="rId6"/>
    <p:sldId id="258" r:id="rId7"/>
    <p:sldId id="259" r:id="rId8"/>
    <p:sldId id="260" r:id="rId9"/>
    <p:sldId id="261" r:id="rId10"/>
    <p:sldId id="267" r:id="rId11"/>
    <p:sldId id="273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729"/>
  </p:normalViewPr>
  <p:slideViewPr>
    <p:cSldViewPr snapToGrid="0">
      <p:cViewPr varScale="1">
        <p:scale>
          <a:sx n="85" d="100"/>
          <a:sy n="85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28671F-DBC2-4410-845C-E320334E744E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BBF808-E1D3-4A07-B7A5-70ACEA4B1567}">
      <dgm:prSet/>
      <dgm:spPr/>
      <dgm:t>
        <a:bodyPr/>
        <a:lstStyle/>
        <a:p>
          <a:r>
            <a:rPr lang="tr-TR"/>
            <a:t>Single Phase Diode Rectifier + Buck Converter</a:t>
          </a:r>
          <a:endParaRPr lang="en-US"/>
        </a:p>
      </dgm:t>
    </dgm:pt>
    <dgm:pt modelId="{5D7E92C9-BF6A-412E-84FB-DAF630F9EE33}" type="parTrans" cxnId="{6DFCF1AA-48B2-4C7F-A4B0-F33B49BEB702}">
      <dgm:prSet/>
      <dgm:spPr/>
      <dgm:t>
        <a:bodyPr/>
        <a:lstStyle/>
        <a:p>
          <a:endParaRPr lang="en-US"/>
        </a:p>
      </dgm:t>
    </dgm:pt>
    <dgm:pt modelId="{D700ECA2-5EAB-4291-A002-0BDB94EF39E2}" type="sibTrans" cxnId="{6DFCF1AA-48B2-4C7F-A4B0-F33B49BEB702}">
      <dgm:prSet/>
      <dgm:spPr>
        <a:noFill/>
      </dgm:spPr>
      <dgm:t>
        <a:bodyPr/>
        <a:lstStyle/>
        <a:p>
          <a:endParaRPr lang="en-US"/>
        </a:p>
      </dgm:t>
    </dgm:pt>
    <dgm:pt modelId="{DB3656F4-D489-44B8-961C-992D62FDF22A}">
      <dgm:prSet/>
      <dgm:spPr/>
      <dgm:t>
        <a:bodyPr/>
        <a:lstStyle/>
        <a:p>
          <a:r>
            <a:rPr lang="tr-TR"/>
            <a:t>Three Phase Diode Rectifier + Buck Converter</a:t>
          </a:r>
          <a:endParaRPr lang="en-US"/>
        </a:p>
      </dgm:t>
    </dgm:pt>
    <dgm:pt modelId="{AB907759-16DB-47F2-A0A0-906D9683A637}" type="parTrans" cxnId="{A2E76C4E-230F-4959-8086-608EA9D5C512}">
      <dgm:prSet/>
      <dgm:spPr/>
      <dgm:t>
        <a:bodyPr/>
        <a:lstStyle/>
        <a:p>
          <a:endParaRPr lang="en-US"/>
        </a:p>
      </dgm:t>
    </dgm:pt>
    <dgm:pt modelId="{CBC84A30-F3CC-4743-83C2-FD5C5736F0E3}" type="sibTrans" cxnId="{A2E76C4E-230F-4959-8086-608EA9D5C512}">
      <dgm:prSet/>
      <dgm:spPr/>
      <dgm:t>
        <a:bodyPr/>
        <a:lstStyle/>
        <a:p>
          <a:endParaRPr lang="en-US"/>
        </a:p>
      </dgm:t>
    </dgm:pt>
    <dgm:pt modelId="{27117F2A-9DAF-BA4F-9F27-56470CFAD3F5}" type="pres">
      <dgm:prSet presAssocID="{A628671F-DBC2-4410-845C-E320334E744E}" presName="diagram" presStyleCnt="0">
        <dgm:presLayoutVars>
          <dgm:dir/>
          <dgm:resizeHandles val="exact"/>
        </dgm:presLayoutVars>
      </dgm:prSet>
      <dgm:spPr/>
    </dgm:pt>
    <dgm:pt modelId="{BC94000B-DD93-DE4A-BDC8-3B05F033A924}" type="pres">
      <dgm:prSet presAssocID="{A6BBF808-E1D3-4A07-B7A5-70ACEA4B1567}" presName="node" presStyleLbl="node1" presStyleIdx="0" presStyleCnt="2">
        <dgm:presLayoutVars>
          <dgm:bulletEnabled val="1"/>
        </dgm:presLayoutVars>
      </dgm:prSet>
      <dgm:spPr/>
    </dgm:pt>
    <dgm:pt modelId="{5F91A390-394C-984C-A080-5D0E5DA15A8A}" type="pres">
      <dgm:prSet presAssocID="{D700ECA2-5EAB-4291-A002-0BDB94EF39E2}" presName="sibTrans" presStyleLbl="sibTrans2D1" presStyleIdx="0" presStyleCnt="1"/>
      <dgm:spPr>
        <a:prstGeom prst="dodecagon">
          <a:avLst/>
        </a:prstGeom>
      </dgm:spPr>
    </dgm:pt>
    <dgm:pt modelId="{7A53CEA6-A9DB-9346-9DDB-A2994F683C9D}" type="pres">
      <dgm:prSet presAssocID="{D700ECA2-5EAB-4291-A002-0BDB94EF39E2}" presName="connectorText" presStyleLbl="sibTrans2D1" presStyleIdx="0" presStyleCnt="1"/>
      <dgm:spPr/>
    </dgm:pt>
    <dgm:pt modelId="{F010814F-E861-494B-B918-6B24DAB6915F}" type="pres">
      <dgm:prSet presAssocID="{DB3656F4-D489-44B8-961C-992D62FDF22A}" presName="node" presStyleLbl="node1" presStyleIdx="1" presStyleCnt="2">
        <dgm:presLayoutVars>
          <dgm:bulletEnabled val="1"/>
        </dgm:presLayoutVars>
      </dgm:prSet>
      <dgm:spPr/>
    </dgm:pt>
  </dgm:ptLst>
  <dgm:cxnLst>
    <dgm:cxn modelId="{AA60434D-1824-7045-BE80-90AB51CC94DF}" type="presOf" srcId="{D700ECA2-5EAB-4291-A002-0BDB94EF39E2}" destId="{7A53CEA6-A9DB-9346-9DDB-A2994F683C9D}" srcOrd="1" destOrd="0" presId="urn:microsoft.com/office/officeart/2005/8/layout/process5"/>
    <dgm:cxn modelId="{A2E76C4E-230F-4959-8086-608EA9D5C512}" srcId="{A628671F-DBC2-4410-845C-E320334E744E}" destId="{DB3656F4-D489-44B8-961C-992D62FDF22A}" srcOrd="1" destOrd="0" parTransId="{AB907759-16DB-47F2-A0A0-906D9683A637}" sibTransId="{CBC84A30-F3CC-4743-83C2-FD5C5736F0E3}"/>
    <dgm:cxn modelId="{272B2585-A0AC-D848-81B1-A064668B1C8F}" type="presOf" srcId="{A6BBF808-E1D3-4A07-B7A5-70ACEA4B1567}" destId="{BC94000B-DD93-DE4A-BDC8-3B05F033A924}" srcOrd="0" destOrd="0" presId="urn:microsoft.com/office/officeart/2005/8/layout/process5"/>
    <dgm:cxn modelId="{25C84E9F-E3A8-1B4D-BCF5-C0552B1D3A1D}" type="presOf" srcId="{A628671F-DBC2-4410-845C-E320334E744E}" destId="{27117F2A-9DAF-BA4F-9F27-56470CFAD3F5}" srcOrd="0" destOrd="0" presId="urn:microsoft.com/office/officeart/2005/8/layout/process5"/>
    <dgm:cxn modelId="{6DFCF1AA-48B2-4C7F-A4B0-F33B49BEB702}" srcId="{A628671F-DBC2-4410-845C-E320334E744E}" destId="{A6BBF808-E1D3-4A07-B7A5-70ACEA4B1567}" srcOrd="0" destOrd="0" parTransId="{5D7E92C9-BF6A-412E-84FB-DAF630F9EE33}" sibTransId="{D700ECA2-5EAB-4291-A002-0BDB94EF39E2}"/>
    <dgm:cxn modelId="{E423E5D9-73DE-3547-8082-43FAD7F34703}" type="presOf" srcId="{D700ECA2-5EAB-4291-A002-0BDB94EF39E2}" destId="{5F91A390-394C-984C-A080-5D0E5DA15A8A}" srcOrd="0" destOrd="0" presId="urn:microsoft.com/office/officeart/2005/8/layout/process5"/>
    <dgm:cxn modelId="{E88D5BE7-5914-5544-BABC-A85A85756022}" type="presOf" srcId="{DB3656F4-D489-44B8-961C-992D62FDF22A}" destId="{F010814F-E861-494B-B918-6B24DAB6915F}" srcOrd="0" destOrd="0" presId="urn:microsoft.com/office/officeart/2005/8/layout/process5"/>
    <dgm:cxn modelId="{FA618D65-A4CF-8E42-A548-9F95C3F8E277}" type="presParOf" srcId="{27117F2A-9DAF-BA4F-9F27-56470CFAD3F5}" destId="{BC94000B-DD93-DE4A-BDC8-3B05F033A924}" srcOrd="0" destOrd="0" presId="urn:microsoft.com/office/officeart/2005/8/layout/process5"/>
    <dgm:cxn modelId="{2ACBBD51-127E-6840-9FC2-63BA7C6E5DD0}" type="presParOf" srcId="{27117F2A-9DAF-BA4F-9F27-56470CFAD3F5}" destId="{5F91A390-394C-984C-A080-5D0E5DA15A8A}" srcOrd="1" destOrd="0" presId="urn:microsoft.com/office/officeart/2005/8/layout/process5"/>
    <dgm:cxn modelId="{2CD5507C-EA28-364E-A94B-5A53CF1859A3}" type="presParOf" srcId="{5F91A390-394C-984C-A080-5D0E5DA15A8A}" destId="{7A53CEA6-A9DB-9346-9DDB-A2994F683C9D}" srcOrd="0" destOrd="0" presId="urn:microsoft.com/office/officeart/2005/8/layout/process5"/>
    <dgm:cxn modelId="{621F5C6B-A710-B94C-9B18-3AAEDC33E65B}" type="presParOf" srcId="{27117F2A-9DAF-BA4F-9F27-56470CFAD3F5}" destId="{F010814F-E861-494B-B918-6B24DAB6915F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4B3F54-4D8A-47C7-A1DD-1251D718AA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E1B80FF-148B-47F0-8668-1D2EF17DE68D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/>
            <a:t>Single-Phase rectification causes deep voltage ripples (100 Hz).</a:t>
          </a:r>
          <a:endParaRPr lang="en-US"/>
        </a:p>
      </dgm:t>
    </dgm:pt>
    <dgm:pt modelId="{9A640C77-A678-4963-B2D1-9CC4C5093F7E}" type="parTrans" cxnId="{68FB6E86-4D89-480D-BC3F-15A295FE0E20}">
      <dgm:prSet/>
      <dgm:spPr/>
      <dgm:t>
        <a:bodyPr/>
        <a:lstStyle/>
        <a:p>
          <a:endParaRPr lang="en-US"/>
        </a:p>
      </dgm:t>
    </dgm:pt>
    <dgm:pt modelId="{FD6F8E24-E545-4234-8541-608AC03345BE}" type="sibTrans" cxnId="{68FB6E86-4D89-480D-BC3F-15A295FE0E20}">
      <dgm:prSet/>
      <dgm:spPr/>
      <dgm:t>
        <a:bodyPr/>
        <a:lstStyle/>
        <a:p>
          <a:endParaRPr lang="en-US"/>
        </a:p>
      </dgm:t>
    </dgm:pt>
    <dgm:pt modelId="{0716321A-815F-48CE-8557-7C1CA36952A6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0" i="0" baseline="0"/>
            <a:t>To maintain stable 180V output, a huge capacitor (&gt;2000 mikroF) is required.</a:t>
          </a:r>
          <a:endParaRPr lang="en-US"/>
        </a:p>
      </dgm:t>
    </dgm:pt>
    <dgm:pt modelId="{E14C8F29-4CA4-4597-9885-AE5B7AECD483}" type="parTrans" cxnId="{B7484B05-148D-4808-8BF0-F4F59EE18700}">
      <dgm:prSet/>
      <dgm:spPr/>
      <dgm:t>
        <a:bodyPr/>
        <a:lstStyle/>
        <a:p>
          <a:endParaRPr lang="en-US"/>
        </a:p>
      </dgm:t>
    </dgm:pt>
    <dgm:pt modelId="{4958C5A2-DC13-4A97-844C-771657B4B04E}" type="sibTrans" cxnId="{B7484B05-148D-4808-8BF0-F4F59EE18700}">
      <dgm:prSet/>
      <dgm:spPr/>
      <dgm:t>
        <a:bodyPr/>
        <a:lstStyle/>
        <a:p>
          <a:endParaRPr lang="en-US"/>
        </a:p>
      </dgm:t>
    </dgm:pt>
    <dgm:pt modelId="{D7361506-B1DE-46AD-A38B-13E63D952482}">
      <dgm:prSet/>
      <dgm:spPr/>
      <dgm:t>
        <a:bodyPr/>
        <a:lstStyle/>
        <a:p>
          <a:pPr>
            <a:lnSpc>
              <a:spcPct val="100000"/>
            </a:lnSpc>
          </a:pPr>
          <a:r>
            <a:rPr lang="tr-TR" b="1"/>
            <a:t>Also </a:t>
          </a:r>
          <a:r>
            <a:rPr lang="tr-TR" b="0" i="0" baseline="0"/>
            <a:t>Lab inventory only provides max </a:t>
          </a:r>
          <a:r>
            <a:rPr lang="tr-TR" b="1" i="0" baseline="0"/>
            <a:t>470 mikroF</a:t>
          </a:r>
          <a:r>
            <a:rPr lang="tr-TR" b="0" i="0" baseline="0"/>
            <a:t> (High Voltage) capacitors.</a:t>
          </a:r>
          <a:endParaRPr lang="en-US"/>
        </a:p>
      </dgm:t>
    </dgm:pt>
    <dgm:pt modelId="{AF061B8A-E91A-4A09-8C95-580B07CD41D7}" type="parTrans" cxnId="{1654C601-4575-4014-85D1-CD9D8BCD6AB5}">
      <dgm:prSet/>
      <dgm:spPr/>
      <dgm:t>
        <a:bodyPr/>
        <a:lstStyle/>
        <a:p>
          <a:endParaRPr lang="en-US"/>
        </a:p>
      </dgm:t>
    </dgm:pt>
    <dgm:pt modelId="{9131A3F3-6F48-423D-9382-B8A372E36DA8}" type="sibTrans" cxnId="{1654C601-4575-4014-85D1-CD9D8BCD6AB5}">
      <dgm:prSet/>
      <dgm:spPr/>
      <dgm:t>
        <a:bodyPr/>
        <a:lstStyle/>
        <a:p>
          <a:endParaRPr lang="en-US"/>
        </a:p>
      </dgm:t>
    </dgm:pt>
    <dgm:pt modelId="{C1FBB79B-2C60-459A-85E2-1951EE964DB0}" type="pres">
      <dgm:prSet presAssocID="{E14B3F54-4D8A-47C7-A1DD-1251D718AA35}" presName="root" presStyleCnt="0">
        <dgm:presLayoutVars>
          <dgm:dir/>
          <dgm:resizeHandles val="exact"/>
        </dgm:presLayoutVars>
      </dgm:prSet>
      <dgm:spPr/>
    </dgm:pt>
    <dgm:pt modelId="{DDE4EEFD-1A52-4B5B-9EAA-A2A0DD7898D6}" type="pres">
      <dgm:prSet presAssocID="{2E1B80FF-148B-47F0-8668-1D2EF17DE68D}" presName="compNode" presStyleCnt="0"/>
      <dgm:spPr/>
    </dgm:pt>
    <dgm:pt modelId="{2C369320-7B74-4BAF-BBEC-34E64B9FE298}" type="pres">
      <dgm:prSet presAssocID="{2E1B80FF-148B-47F0-8668-1D2EF17DE68D}" presName="bgRect" presStyleLbl="bgShp" presStyleIdx="0" presStyleCnt="3"/>
      <dgm:spPr/>
    </dgm:pt>
    <dgm:pt modelId="{1A2592F8-88EF-467C-AA02-055A7B827991}" type="pres">
      <dgm:prSet presAssocID="{2E1B80FF-148B-47F0-8668-1D2EF17DE68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5EA58169-A9E0-4FC9-A6E7-694EC8CF996A}" type="pres">
      <dgm:prSet presAssocID="{2E1B80FF-148B-47F0-8668-1D2EF17DE68D}" presName="spaceRect" presStyleCnt="0"/>
      <dgm:spPr/>
    </dgm:pt>
    <dgm:pt modelId="{C6DC2140-27B0-4495-94B1-122C8A51BAD5}" type="pres">
      <dgm:prSet presAssocID="{2E1B80FF-148B-47F0-8668-1D2EF17DE68D}" presName="parTx" presStyleLbl="revTx" presStyleIdx="0" presStyleCnt="3">
        <dgm:presLayoutVars>
          <dgm:chMax val="0"/>
          <dgm:chPref val="0"/>
        </dgm:presLayoutVars>
      </dgm:prSet>
      <dgm:spPr/>
    </dgm:pt>
    <dgm:pt modelId="{CFFE6E82-64A1-45D6-8869-C0E503D15B54}" type="pres">
      <dgm:prSet presAssocID="{FD6F8E24-E545-4234-8541-608AC03345BE}" presName="sibTrans" presStyleCnt="0"/>
      <dgm:spPr/>
    </dgm:pt>
    <dgm:pt modelId="{D1FFD6D9-8957-4BAA-AE4E-B1C057B14B55}" type="pres">
      <dgm:prSet presAssocID="{0716321A-815F-48CE-8557-7C1CA36952A6}" presName="compNode" presStyleCnt="0"/>
      <dgm:spPr/>
    </dgm:pt>
    <dgm:pt modelId="{876BD100-2422-4EF0-8401-30FF555D0CDE}" type="pres">
      <dgm:prSet presAssocID="{0716321A-815F-48CE-8557-7C1CA36952A6}" presName="bgRect" presStyleLbl="bgShp" presStyleIdx="1" presStyleCnt="3"/>
      <dgm:spPr/>
    </dgm:pt>
    <dgm:pt modelId="{CEAB4F21-083C-4DD3-A3C4-6BD92889E34B}" type="pres">
      <dgm:prSet presAssocID="{0716321A-815F-48CE-8557-7C1CA36952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ğlı değil"/>
        </a:ext>
      </dgm:extLst>
    </dgm:pt>
    <dgm:pt modelId="{DC38343B-8804-40E0-9D66-3301D0A65D9A}" type="pres">
      <dgm:prSet presAssocID="{0716321A-815F-48CE-8557-7C1CA36952A6}" presName="spaceRect" presStyleCnt="0"/>
      <dgm:spPr/>
    </dgm:pt>
    <dgm:pt modelId="{650B37C6-C838-4842-A100-86BAE28F930A}" type="pres">
      <dgm:prSet presAssocID="{0716321A-815F-48CE-8557-7C1CA36952A6}" presName="parTx" presStyleLbl="revTx" presStyleIdx="1" presStyleCnt="3">
        <dgm:presLayoutVars>
          <dgm:chMax val="0"/>
          <dgm:chPref val="0"/>
        </dgm:presLayoutVars>
      </dgm:prSet>
      <dgm:spPr/>
    </dgm:pt>
    <dgm:pt modelId="{F6767FC2-8BDD-4C32-AA6A-F83E31175BE5}" type="pres">
      <dgm:prSet presAssocID="{4958C5A2-DC13-4A97-844C-771657B4B04E}" presName="sibTrans" presStyleCnt="0"/>
      <dgm:spPr/>
    </dgm:pt>
    <dgm:pt modelId="{2DC58993-D9D4-4BFB-B45C-098A1A550D7C}" type="pres">
      <dgm:prSet presAssocID="{D7361506-B1DE-46AD-A38B-13E63D952482}" presName="compNode" presStyleCnt="0"/>
      <dgm:spPr/>
    </dgm:pt>
    <dgm:pt modelId="{00F377CD-E88B-4480-9206-086FEB1BB6F4}" type="pres">
      <dgm:prSet presAssocID="{D7361506-B1DE-46AD-A38B-13E63D952482}" presName="bgRect" presStyleLbl="bgShp" presStyleIdx="2" presStyleCnt="3"/>
      <dgm:spPr/>
    </dgm:pt>
    <dgm:pt modelId="{EDDD2A41-77BB-4A6D-979D-9FC949298B43}" type="pres">
      <dgm:prSet presAssocID="{D7361506-B1DE-46AD-A38B-13E63D9524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ktrikçi"/>
        </a:ext>
      </dgm:extLst>
    </dgm:pt>
    <dgm:pt modelId="{1F4EB02D-5428-4291-A7D5-474D4895F778}" type="pres">
      <dgm:prSet presAssocID="{D7361506-B1DE-46AD-A38B-13E63D952482}" presName="spaceRect" presStyleCnt="0"/>
      <dgm:spPr/>
    </dgm:pt>
    <dgm:pt modelId="{8F5CD5F1-B3FB-4AA2-9F48-097F0AB9D9C5}" type="pres">
      <dgm:prSet presAssocID="{D7361506-B1DE-46AD-A38B-13E63D95248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54C601-4575-4014-85D1-CD9D8BCD6AB5}" srcId="{E14B3F54-4D8A-47C7-A1DD-1251D718AA35}" destId="{D7361506-B1DE-46AD-A38B-13E63D952482}" srcOrd="2" destOrd="0" parTransId="{AF061B8A-E91A-4A09-8C95-580B07CD41D7}" sibTransId="{9131A3F3-6F48-423D-9382-B8A372E36DA8}"/>
    <dgm:cxn modelId="{B7484B05-148D-4808-8BF0-F4F59EE18700}" srcId="{E14B3F54-4D8A-47C7-A1DD-1251D718AA35}" destId="{0716321A-815F-48CE-8557-7C1CA36952A6}" srcOrd="1" destOrd="0" parTransId="{E14C8F29-4CA4-4597-9885-AE5B7AECD483}" sibTransId="{4958C5A2-DC13-4A97-844C-771657B4B04E}"/>
    <dgm:cxn modelId="{ECC8AA2D-7E66-5342-9ACA-B9B0F754140A}" type="presOf" srcId="{2E1B80FF-148B-47F0-8668-1D2EF17DE68D}" destId="{C6DC2140-27B0-4495-94B1-122C8A51BAD5}" srcOrd="0" destOrd="0" presId="urn:microsoft.com/office/officeart/2018/2/layout/IconVerticalSolidList"/>
    <dgm:cxn modelId="{68FB6E86-4D89-480D-BC3F-15A295FE0E20}" srcId="{E14B3F54-4D8A-47C7-A1DD-1251D718AA35}" destId="{2E1B80FF-148B-47F0-8668-1D2EF17DE68D}" srcOrd="0" destOrd="0" parTransId="{9A640C77-A678-4963-B2D1-9CC4C5093F7E}" sibTransId="{FD6F8E24-E545-4234-8541-608AC03345BE}"/>
    <dgm:cxn modelId="{231CC393-FCB8-EB46-8515-3BD191F10A0A}" type="presOf" srcId="{E14B3F54-4D8A-47C7-A1DD-1251D718AA35}" destId="{C1FBB79B-2C60-459A-85E2-1951EE964DB0}" srcOrd="0" destOrd="0" presId="urn:microsoft.com/office/officeart/2018/2/layout/IconVerticalSolidList"/>
    <dgm:cxn modelId="{8522B7C3-DF30-7F4E-ADFD-1408918C0EFB}" type="presOf" srcId="{D7361506-B1DE-46AD-A38B-13E63D952482}" destId="{8F5CD5F1-B3FB-4AA2-9F48-097F0AB9D9C5}" srcOrd="0" destOrd="0" presId="urn:microsoft.com/office/officeart/2018/2/layout/IconVerticalSolidList"/>
    <dgm:cxn modelId="{DB3012D2-694F-AC45-89E6-D4E1BFAEDBCB}" type="presOf" srcId="{0716321A-815F-48CE-8557-7C1CA36952A6}" destId="{650B37C6-C838-4842-A100-86BAE28F930A}" srcOrd="0" destOrd="0" presId="urn:microsoft.com/office/officeart/2018/2/layout/IconVerticalSolidList"/>
    <dgm:cxn modelId="{27281A34-2567-C347-8819-B0AC2F661DA2}" type="presParOf" srcId="{C1FBB79B-2C60-459A-85E2-1951EE964DB0}" destId="{DDE4EEFD-1A52-4B5B-9EAA-A2A0DD7898D6}" srcOrd="0" destOrd="0" presId="urn:microsoft.com/office/officeart/2018/2/layout/IconVerticalSolidList"/>
    <dgm:cxn modelId="{39DEF128-62EE-AC4E-8EAC-622E1E36EBF3}" type="presParOf" srcId="{DDE4EEFD-1A52-4B5B-9EAA-A2A0DD7898D6}" destId="{2C369320-7B74-4BAF-BBEC-34E64B9FE298}" srcOrd="0" destOrd="0" presId="urn:microsoft.com/office/officeart/2018/2/layout/IconVerticalSolidList"/>
    <dgm:cxn modelId="{147F2A8A-D08E-6E44-8E71-71A31301EF74}" type="presParOf" srcId="{DDE4EEFD-1A52-4B5B-9EAA-A2A0DD7898D6}" destId="{1A2592F8-88EF-467C-AA02-055A7B827991}" srcOrd="1" destOrd="0" presId="urn:microsoft.com/office/officeart/2018/2/layout/IconVerticalSolidList"/>
    <dgm:cxn modelId="{1B5D9C94-EAEB-8C44-A0AF-77FE61BF670B}" type="presParOf" srcId="{DDE4EEFD-1A52-4B5B-9EAA-A2A0DD7898D6}" destId="{5EA58169-A9E0-4FC9-A6E7-694EC8CF996A}" srcOrd="2" destOrd="0" presId="urn:microsoft.com/office/officeart/2018/2/layout/IconVerticalSolidList"/>
    <dgm:cxn modelId="{BDA506AD-8C80-7443-8F55-57BF0FA10C88}" type="presParOf" srcId="{DDE4EEFD-1A52-4B5B-9EAA-A2A0DD7898D6}" destId="{C6DC2140-27B0-4495-94B1-122C8A51BAD5}" srcOrd="3" destOrd="0" presId="urn:microsoft.com/office/officeart/2018/2/layout/IconVerticalSolidList"/>
    <dgm:cxn modelId="{E699CC39-0076-C247-87D8-0BA65FF414D9}" type="presParOf" srcId="{C1FBB79B-2C60-459A-85E2-1951EE964DB0}" destId="{CFFE6E82-64A1-45D6-8869-C0E503D15B54}" srcOrd="1" destOrd="0" presId="urn:microsoft.com/office/officeart/2018/2/layout/IconVerticalSolidList"/>
    <dgm:cxn modelId="{E5D13538-D2CE-4247-B5FF-8591960943D6}" type="presParOf" srcId="{C1FBB79B-2C60-459A-85E2-1951EE964DB0}" destId="{D1FFD6D9-8957-4BAA-AE4E-B1C057B14B55}" srcOrd="2" destOrd="0" presId="urn:microsoft.com/office/officeart/2018/2/layout/IconVerticalSolidList"/>
    <dgm:cxn modelId="{50FEE11A-FE10-624D-9655-9D6F52EE8FB5}" type="presParOf" srcId="{D1FFD6D9-8957-4BAA-AE4E-B1C057B14B55}" destId="{876BD100-2422-4EF0-8401-30FF555D0CDE}" srcOrd="0" destOrd="0" presId="urn:microsoft.com/office/officeart/2018/2/layout/IconVerticalSolidList"/>
    <dgm:cxn modelId="{9FFFA523-1197-984B-BD73-8540CFB606ED}" type="presParOf" srcId="{D1FFD6D9-8957-4BAA-AE4E-B1C057B14B55}" destId="{CEAB4F21-083C-4DD3-A3C4-6BD92889E34B}" srcOrd="1" destOrd="0" presId="urn:microsoft.com/office/officeart/2018/2/layout/IconVerticalSolidList"/>
    <dgm:cxn modelId="{B6D54084-7232-534C-BCDB-1323FDEC87D0}" type="presParOf" srcId="{D1FFD6D9-8957-4BAA-AE4E-B1C057B14B55}" destId="{DC38343B-8804-40E0-9D66-3301D0A65D9A}" srcOrd="2" destOrd="0" presId="urn:microsoft.com/office/officeart/2018/2/layout/IconVerticalSolidList"/>
    <dgm:cxn modelId="{5CF649F6-B2A6-BF46-A452-33287663C572}" type="presParOf" srcId="{D1FFD6D9-8957-4BAA-AE4E-B1C057B14B55}" destId="{650B37C6-C838-4842-A100-86BAE28F930A}" srcOrd="3" destOrd="0" presId="urn:microsoft.com/office/officeart/2018/2/layout/IconVerticalSolidList"/>
    <dgm:cxn modelId="{84313BE1-647B-FA42-AFB8-5BE141667D7A}" type="presParOf" srcId="{C1FBB79B-2C60-459A-85E2-1951EE964DB0}" destId="{F6767FC2-8BDD-4C32-AA6A-F83E31175BE5}" srcOrd="3" destOrd="0" presId="urn:microsoft.com/office/officeart/2018/2/layout/IconVerticalSolidList"/>
    <dgm:cxn modelId="{E76AA349-A12F-8C4B-920F-FECE323073C1}" type="presParOf" srcId="{C1FBB79B-2C60-459A-85E2-1951EE964DB0}" destId="{2DC58993-D9D4-4BFB-B45C-098A1A550D7C}" srcOrd="4" destOrd="0" presId="urn:microsoft.com/office/officeart/2018/2/layout/IconVerticalSolidList"/>
    <dgm:cxn modelId="{1FEB413D-5F6C-C048-94A1-6F368AE467EA}" type="presParOf" srcId="{2DC58993-D9D4-4BFB-B45C-098A1A550D7C}" destId="{00F377CD-E88B-4480-9206-086FEB1BB6F4}" srcOrd="0" destOrd="0" presId="urn:microsoft.com/office/officeart/2018/2/layout/IconVerticalSolidList"/>
    <dgm:cxn modelId="{CDA9D933-A3A6-044B-8FBB-A2B9B7EC176A}" type="presParOf" srcId="{2DC58993-D9D4-4BFB-B45C-098A1A550D7C}" destId="{EDDD2A41-77BB-4A6D-979D-9FC949298B43}" srcOrd="1" destOrd="0" presId="urn:microsoft.com/office/officeart/2018/2/layout/IconVerticalSolidList"/>
    <dgm:cxn modelId="{AF71D6CB-6BA8-1C4E-8E57-2B2F9832B5AC}" type="presParOf" srcId="{2DC58993-D9D4-4BFB-B45C-098A1A550D7C}" destId="{1F4EB02D-5428-4291-A7D5-474D4895F778}" srcOrd="2" destOrd="0" presId="urn:microsoft.com/office/officeart/2018/2/layout/IconVerticalSolidList"/>
    <dgm:cxn modelId="{64FED656-7CD1-5747-B14F-1B60B91531C1}" type="presParOf" srcId="{2DC58993-D9D4-4BFB-B45C-098A1A550D7C}" destId="{8F5CD5F1-B3FB-4AA2-9F48-097F0AB9D9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F4D4D4-C9A8-4FBE-A637-E3220398B6B2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EF8D72E-B601-4F6E-BBB5-ED3038C29294}">
      <dgm:prSet/>
      <dgm:spPr/>
      <dgm:t>
        <a:bodyPr/>
        <a:lstStyle/>
        <a:p>
          <a:r>
            <a:rPr lang="tr-TR" b="1"/>
            <a:t>Selected:</a:t>
          </a:r>
          <a:r>
            <a:rPr lang="tr-TR"/>
            <a:t> </a:t>
          </a:r>
          <a:r>
            <a:rPr lang="tr-TR" b="1"/>
            <a:t>Three-Phase Rectifier</a:t>
          </a:r>
          <a:r>
            <a:rPr lang="tr-TR"/>
            <a:t>.</a:t>
          </a:r>
          <a:endParaRPr lang="en-US"/>
        </a:p>
      </dgm:t>
    </dgm:pt>
    <dgm:pt modelId="{7D4C5F4E-C403-4C1A-906F-FD33D1431533}" type="parTrans" cxnId="{5398A0CC-86A6-407E-8209-CA9AE8F6D62C}">
      <dgm:prSet/>
      <dgm:spPr/>
      <dgm:t>
        <a:bodyPr/>
        <a:lstStyle/>
        <a:p>
          <a:endParaRPr lang="en-US"/>
        </a:p>
      </dgm:t>
    </dgm:pt>
    <dgm:pt modelId="{3297E205-C8D8-4C36-AE32-F67B2E42043A}" type="sibTrans" cxnId="{5398A0CC-86A6-407E-8209-CA9AE8F6D62C}">
      <dgm:prSet/>
      <dgm:spPr/>
      <dgm:t>
        <a:bodyPr/>
        <a:lstStyle/>
        <a:p>
          <a:endParaRPr lang="en-US"/>
        </a:p>
      </dgm:t>
    </dgm:pt>
    <dgm:pt modelId="{A7FFDAEC-D11B-4882-9AE9-76C427A3256C}">
      <dgm:prSet/>
      <dgm:spPr/>
      <dgm:t>
        <a:bodyPr/>
        <a:lstStyle/>
        <a:p>
          <a:r>
            <a:rPr lang="tr-TR"/>
            <a:t>3-Phase DC bus never drops to zero (V_min = 1.5* V_peak).</a:t>
          </a:r>
          <a:endParaRPr lang="en-US"/>
        </a:p>
      </dgm:t>
    </dgm:pt>
    <dgm:pt modelId="{466C491E-BF2F-495C-B6A2-99444E684065}" type="parTrans" cxnId="{9D369095-CEDF-48DE-BB6A-B7EDE214F3C8}">
      <dgm:prSet/>
      <dgm:spPr/>
      <dgm:t>
        <a:bodyPr/>
        <a:lstStyle/>
        <a:p>
          <a:endParaRPr lang="en-US"/>
        </a:p>
      </dgm:t>
    </dgm:pt>
    <dgm:pt modelId="{A67B0508-7D8C-4311-B19A-B33B2B7F53DF}" type="sibTrans" cxnId="{9D369095-CEDF-48DE-BB6A-B7EDE214F3C8}">
      <dgm:prSet/>
      <dgm:spPr/>
      <dgm:t>
        <a:bodyPr/>
        <a:lstStyle/>
        <a:p>
          <a:endParaRPr lang="en-US"/>
        </a:p>
      </dgm:t>
    </dgm:pt>
    <dgm:pt modelId="{0526F02E-1886-4DB5-BE1D-52CD5CE93538}">
      <dgm:prSet/>
      <dgm:spPr/>
      <dgm:t>
        <a:bodyPr/>
        <a:lstStyle/>
        <a:p>
          <a:r>
            <a:rPr lang="tr-TR" b="1"/>
            <a:t>Result:</a:t>
          </a:r>
          <a:r>
            <a:rPr lang="tr-TR"/>
            <a:t> The available </a:t>
          </a:r>
          <a:r>
            <a:rPr lang="tr-TR" b="1"/>
            <a:t>470 mikroF</a:t>
          </a:r>
          <a:r>
            <a:rPr lang="tr-TR"/>
            <a:t> capacitor is perfectly sufficient for filtering, eliminating the need for unavailable components</a:t>
          </a:r>
          <a:r>
            <a:rPr lang="tr-TR" b="0" i="0" baseline="0"/>
            <a:t>.</a:t>
          </a:r>
          <a:endParaRPr lang="en-US"/>
        </a:p>
      </dgm:t>
    </dgm:pt>
    <dgm:pt modelId="{92248F96-0864-48B0-8344-3838C0DA7D56}" type="parTrans" cxnId="{405E852E-330A-44D5-A9DD-8E9B7EC32FEC}">
      <dgm:prSet/>
      <dgm:spPr/>
      <dgm:t>
        <a:bodyPr/>
        <a:lstStyle/>
        <a:p>
          <a:endParaRPr lang="en-US"/>
        </a:p>
      </dgm:t>
    </dgm:pt>
    <dgm:pt modelId="{FCA7CBCF-4BC6-459B-B0A9-4B67410973D0}" type="sibTrans" cxnId="{405E852E-330A-44D5-A9DD-8E9B7EC32FEC}">
      <dgm:prSet/>
      <dgm:spPr/>
      <dgm:t>
        <a:bodyPr/>
        <a:lstStyle/>
        <a:p>
          <a:endParaRPr lang="en-US"/>
        </a:p>
      </dgm:t>
    </dgm:pt>
    <dgm:pt modelId="{655D8C93-99ED-C341-9064-61F9C2E0A9FA}" type="pres">
      <dgm:prSet presAssocID="{60F4D4D4-C9A8-4FBE-A637-E3220398B6B2}" presName="Name0" presStyleCnt="0">
        <dgm:presLayoutVars>
          <dgm:dir/>
          <dgm:animLvl val="lvl"/>
          <dgm:resizeHandles val="exact"/>
        </dgm:presLayoutVars>
      </dgm:prSet>
      <dgm:spPr/>
    </dgm:pt>
    <dgm:pt modelId="{E7FAC7A0-91CB-3C49-A143-C45F4EA6BB51}" type="pres">
      <dgm:prSet presAssocID="{0526F02E-1886-4DB5-BE1D-52CD5CE93538}" presName="boxAndChildren" presStyleCnt="0"/>
      <dgm:spPr/>
    </dgm:pt>
    <dgm:pt modelId="{C6371698-E052-FB46-AAC8-5479BDCCC4DE}" type="pres">
      <dgm:prSet presAssocID="{0526F02E-1886-4DB5-BE1D-52CD5CE93538}" presName="parentTextBox" presStyleLbl="node1" presStyleIdx="0" presStyleCnt="3"/>
      <dgm:spPr/>
    </dgm:pt>
    <dgm:pt modelId="{7BC844C3-010E-004B-8650-9FD98CE97CCA}" type="pres">
      <dgm:prSet presAssocID="{A67B0508-7D8C-4311-B19A-B33B2B7F53DF}" presName="sp" presStyleCnt="0"/>
      <dgm:spPr/>
    </dgm:pt>
    <dgm:pt modelId="{500E38FF-6CBF-EC42-BD3F-F4A3DEABA97C}" type="pres">
      <dgm:prSet presAssocID="{A7FFDAEC-D11B-4882-9AE9-76C427A3256C}" presName="arrowAndChildren" presStyleCnt="0"/>
      <dgm:spPr/>
    </dgm:pt>
    <dgm:pt modelId="{D57032CA-4EEF-3745-A0BE-0DE5DE272D9D}" type="pres">
      <dgm:prSet presAssocID="{A7FFDAEC-D11B-4882-9AE9-76C427A3256C}" presName="parentTextArrow" presStyleLbl="node1" presStyleIdx="1" presStyleCnt="3"/>
      <dgm:spPr/>
    </dgm:pt>
    <dgm:pt modelId="{FC0AAA84-AA4F-904D-9400-EA81A8806183}" type="pres">
      <dgm:prSet presAssocID="{3297E205-C8D8-4C36-AE32-F67B2E42043A}" presName="sp" presStyleCnt="0"/>
      <dgm:spPr/>
    </dgm:pt>
    <dgm:pt modelId="{46723CB3-BF0B-1840-A752-1B4587AAD408}" type="pres">
      <dgm:prSet presAssocID="{8EF8D72E-B601-4F6E-BBB5-ED3038C29294}" presName="arrowAndChildren" presStyleCnt="0"/>
      <dgm:spPr/>
    </dgm:pt>
    <dgm:pt modelId="{140046CC-9F3B-C141-AF90-12C85AE1E558}" type="pres">
      <dgm:prSet presAssocID="{8EF8D72E-B601-4F6E-BBB5-ED3038C29294}" presName="parentTextArrow" presStyleLbl="node1" presStyleIdx="2" presStyleCnt="3"/>
      <dgm:spPr/>
    </dgm:pt>
  </dgm:ptLst>
  <dgm:cxnLst>
    <dgm:cxn modelId="{47E0C422-CA91-9F40-B2DC-B4016DF368C8}" type="presOf" srcId="{8EF8D72E-B601-4F6E-BBB5-ED3038C29294}" destId="{140046CC-9F3B-C141-AF90-12C85AE1E558}" srcOrd="0" destOrd="0" presId="urn:microsoft.com/office/officeart/2005/8/layout/process4"/>
    <dgm:cxn modelId="{405E852E-330A-44D5-A9DD-8E9B7EC32FEC}" srcId="{60F4D4D4-C9A8-4FBE-A637-E3220398B6B2}" destId="{0526F02E-1886-4DB5-BE1D-52CD5CE93538}" srcOrd="2" destOrd="0" parTransId="{92248F96-0864-48B0-8344-3838C0DA7D56}" sibTransId="{FCA7CBCF-4BC6-459B-B0A9-4B67410973D0}"/>
    <dgm:cxn modelId="{93142534-1047-0146-9332-89829739A40A}" type="presOf" srcId="{60F4D4D4-C9A8-4FBE-A637-E3220398B6B2}" destId="{655D8C93-99ED-C341-9064-61F9C2E0A9FA}" srcOrd="0" destOrd="0" presId="urn:microsoft.com/office/officeart/2005/8/layout/process4"/>
    <dgm:cxn modelId="{08B24A3D-6F08-5D4C-98D1-652544883B47}" type="presOf" srcId="{A7FFDAEC-D11B-4882-9AE9-76C427A3256C}" destId="{D57032CA-4EEF-3745-A0BE-0DE5DE272D9D}" srcOrd="0" destOrd="0" presId="urn:microsoft.com/office/officeart/2005/8/layout/process4"/>
    <dgm:cxn modelId="{9D369095-CEDF-48DE-BB6A-B7EDE214F3C8}" srcId="{60F4D4D4-C9A8-4FBE-A637-E3220398B6B2}" destId="{A7FFDAEC-D11B-4882-9AE9-76C427A3256C}" srcOrd="1" destOrd="0" parTransId="{466C491E-BF2F-495C-B6A2-99444E684065}" sibTransId="{A67B0508-7D8C-4311-B19A-B33B2B7F53DF}"/>
    <dgm:cxn modelId="{5398A0CC-86A6-407E-8209-CA9AE8F6D62C}" srcId="{60F4D4D4-C9A8-4FBE-A637-E3220398B6B2}" destId="{8EF8D72E-B601-4F6E-BBB5-ED3038C29294}" srcOrd="0" destOrd="0" parTransId="{7D4C5F4E-C403-4C1A-906F-FD33D1431533}" sibTransId="{3297E205-C8D8-4C36-AE32-F67B2E42043A}"/>
    <dgm:cxn modelId="{5BB2B7ED-F38D-464F-9A04-1FF9EBB86DAD}" type="presOf" srcId="{0526F02E-1886-4DB5-BE1D-52CD5CE93538}" destId="{C6371698-E052-FB46-AAC8-5479BDCCC4DE}" srcOrd="0" destOrd="0" presId="urn:microsoft.com/office/officeart/2005/8/layout/process4"/>
    <dgm:cxn modelId="{37224D57-94D7-8648-B113-74C1C396C67D}" type="presParOf" srcId="{655D8C93-99ED-C341-9064-61F9C2E0A9FA}" destId="{E7FAC7A0-91CB-3C49-A143-C45F4EA6BB51}" srcOrd="0" destOrd="0" presId="urn:microsoft.com/office/officeart/2005/8/layout/process4"/>
    <dgm:cxn modelId="{37BED1F2-F388-1243-88A9-65649665828A}" type="presParOf" srcId="{E7FAC7A0-91CB-3C49-A143-C45F4EA6BB51}" destId="{C6371698-E052-FB46-AAC8-5479BDCCC4DE}" srcOrd="0" destOrd="0" presId="urn:microsoft.com/office/officeart/2005/8/layout/process4"/>
    <dgm:cxn modelId="{7F1F2538-B38E-404D-A4AE-8F63BB179DF9}" type="presParOf" srcId="{655D8C93-99ED-C341-9064-61F9C2E0A9FA}" destId="{7BC844C3-010E-004B-8650-9FD98CE97CCA}" srcOrd="1" destOrd="0" presId="urn:microsoft.com/office/officeart/2005/8/layout/process4"/>
    <dgm:cxn modelId="{B2531B06-4BBF-BC40-8B40-2EB632B65E48}" type="presParOf" srcId="{655D8C93-99ED-C341-9064-61F9C2E0A9FA}" destId="{500E38FF-6CBF-EC42-BD3F-F4A3DEABA97C}" srcOrd="2" destOrd="0" presId="urn:microsoft.com/office/officeart/2005/8/layout/process4"/>
    <dgm:cxn modelId="{A1A98952-C3A4-0044-9AFC-A1BD129E02B6}" type="presParOf" srcId="{500E38FF-6CBF-EC42-BD3F-F4A3DEABA97C}" destId="{D57032CA-4EEF-3745-A0BE-0DE5DE272D9D}" srcOrd="0" destOrd="0" presId="urn:microsoft.com/office/officeart/2005/8/layout/process4"/>
    <dgm:cxn modelId="{6989D4BE-67AD-5F43-99B1-FF94FE5BD8E5}" type="presParOf" srcId="{655D8C93-99ED-C341-9064-61F9C2E0A9FA}" destId="{FC0AAA84-AA4F-904D-9400-EA81A8806183}" srcOrd="3" destOrd="0" presId="urn:microsoft.com/office/officeart/2005/8/layout/process4"/>
    <dgm:cxn modelId="{4F0E1C00-8B28-724D-81CF-6FEC9F7C396E}" type="presParOf" srcId="{655D8C93-99ED-C341-9064-61F9C2E0A9FA}" destId="{46723CB3-BF0B-1840-A752-1B4587AAD408}" srcOrd="4" destOrd="0" presId="urn:microsoft.com/office/officeart/2005/8/layout/process4"/>
    <dgm:cxn modelId="{7C7A9244-042E-3F43-9034-EEC7E4AE757A}" type="presParOf" srcId="{46723CB3-BF0B-1840-A752-1B4587AAD408}" destId="{140046CC-9F3B-C141-AF90-12C85AE1E55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9C63051-C803-4D75-99A4-06DB9990C118}" type="doc">
      <dgm:prSet loTypeId="urn:microsoft.com/office/officeart/2005/8/layout/vList2" loCatId="list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FFBDA59-5C6D-4264-B6C1-E9071BF1F07C}">
      <dgm:prSet/>
      <dgm:spPr>
        <a:gradFill rotWithShape="0">
          <a:gsLst>
            <a:gs pos="0">
              <a:schemeClr val="accent6"/>
            </a:gs>
            <a:gs pos="100000">
              <a:schemeClr val="accent6">
                <a:lumMod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tr-TR" b="1" i="0" baseline="0" dirty="0"/>
            <a:t>Controller:</a:t>
          </a:r>
          <a:r>
            <a:rPr lang="tr-TR" b="0" i="0" baseline="0" dirty="0"/>
            <a:t> </a:t>
          </a:r>
          <a:r>
            <a:rPr lang="tr-TR" b="1" i="0" baseline="0" dirty="0"/>
            <a:t>TL494 CN</a:t>
          </a:r>
          <a:r>
            <a:rPr lang="tr-TR" b="0" i="0" baseline="0" dirty="0"/>
            <a:t> (Analog PWM Controller)</a:t>
          </a:r>
          <a:endParaRPr lang="en-US" dirty="0"/>
        </a:p>
      </dgm:t>
    </dgm:pt>
    <dgm:pt modelId="{E17B0080-3C24-4808-9498-BF2116A68334}" type="parTrans" cxnId="{4F7E0E3E-CB29-4B34-ABB6-6778BD4631E6}">
      <dgm:prSet/>
      <dgm:spPr/>
      <dgm:t>
        <a:bodyPr/>
        <a:lstStyle/>
        <a:p>
          <a:endParaRPr lang="en-US"/>
        </a:p>
      </dgm:t>
    </dgm:pt>
    <dgm:pt modelId="{99D29155-F0BE-41DA-B577-9411DFBB0FCB}" type="sibTrans" cxnId="{4F7E0E3E-CB29-4B34-ABB6-6778BD4631E6}">
      <dgm:prSet/>
      <dgm:spPr/>
      <dgm:t>
        <a:bodyPr/>
        <a:lstStyle/>
        <a:p>
          <a:endParaRPr lang="en-US"/>
        </a:p>
      </dgm:t>
    </dgm:pt>
    <dgm:pt modelId="{C3B4CBBF-81EE-44AB-B141-3475C2DF00ED}">
      <dgm:prSet/>
      <dgm:spPr>
        <a:noFill/>
      </dgm:spPr>
      <dgm:t>
        <a:bodyPr/>
        <a:lstStyle/>
        <a:p>
          <a:r>
            <a:rPr lang="tr-TR" b="0" i="0" baseline="0"/>
            <a:t>Utilizing the </a:t>
          </a:r>
          <a:r>
            <a:rPr lang="tr-TR" b="1" i="0" baseline="0"/>
            <a:t>DTC (Dead-Time Control)</a:t>
          </a:r>
          <a:r>
            <a:rPr lang="tr-TR" b="0" i="0" baseline="0"/>
            <a:t> pin.</a:t>
          </a:r>
          <a:endParaRPr lang="en-US"/>
        </a:p>
      </dgm:t>
    </dgm:pt>
    <dgm:pt modelId="{C606D263-B919-4F74-A16F-10E2AAD5A63D}" type="parTrans" cxnId="{423B40AF-B60D-4A65-A87D-30134D655A3F}">
      <dgm:prSet/>
      <dgm:spPr/>
      <dgm:t>
        <a:bodyPr/>
        <a:lstStyle/>
        <a:p>
          <a:endParaRPr lang="en-US"/>
        </a:p>
      </dgm:t>
    </dgm:pt>
    <dgm:pt modelId="{7F9CD535-B0D4-4CDF-8499-9448C3662C99}" type="sibTrans" cxnId="{423B40AF-B60D-4A65-A87D-30134D655A3F}">
      <dgm:prSet/>
      <dgm:spPr/>
      <dgm:t>
        <a:bodyPr/>
        <a:lstStyle/>
        <a:p>
          <a:endParaRPr lang="en-US"/>
        </a:p>
      </dgm:t>
    </dgm:pt>
    <dgm:pt modelId="{95EB2312-F78A-412F-B5B7-6B12FFA10822}">
      <dgm:prSet/>
      <dgm:spPr>
        <a:noFill/>
      </dgm:spPr>
      <dgm:t>
        <a:bodyPr/>
        <a:lstStyle/>
        <a:p>
          <a:r>
            <a:rPr lang="tr-TR" b="0" i="0" baseline="0" dirty="0"/>
            <a:t>An </a:t>
          </a:r>
          <a:r>
            <a:rPr lang="tr-TR" b="0" i="0" baseline="0" dirty="0" err="1"/>
            <a:t>external</a:t>
          </a:r>
          <a:r>
            <a:rPr lang="tr-TR" b="0" i="0" baseline="0" dirty="0"/>
            <a:t> </a:t>
          </a:r>
          <a:r>
            <a:rPr lang="tr-TR" b="0" i="0" baseline="0" dirty="0" err="1"/>
            <a:t>Capacitor</a:t>
          </a:r>
          <a:r>
            <a:rPr lang="tr-TR" b="0" i="0" baseline="0" dirty="0"/>
            <a:t> </a:t>
          </a:r>
          <a:r>
            <a:rPr lang="tr-TR" b="0" i="0" baseline="0" dirty="0" err="1"/>
            <a:t>charges</a:t>
          </a:r>
          <a:r>
            <a:rPr lang="tr-TR" b="0" i="0" baseline="0" dirty="0"/>
            <a:t> at </a:t>
          </a:r>
          <a:r>
            <a:rPr lang="tr-TR" b="0" i="0" baseline="0" dirty="0" err="1"/>
            <a:t>startup</a:t>
          </a:r>
          <a:r>
            <a:rPr lang="tr-TR" b="0" i="0" baseline="0" dirty="0"/>
            <a:t> &gt;&gt; </a:t>
          </a:r>
          <a:r>
            <a:rPr lang="tr-TR" b="0" i="0" baseline="0" dirty="0" err="1"/>
            <a:t>Duty</a:t>
          </a:r>
          <a:r>
            <a:rPr lang="tr-TR" b="0" i="0" baseline="0" dirty="0"/>
            <a:t> </a:t>
          </a:r>
          <a:r>
            <a:rPr lang="tr-TR" b="0" i="0" baseline="0" dirty="0" err="1"/>
            <a:t>Cycle</a:t>
          </a:r>
          <a:r>
            <a:rPr lang="tr-TR" b="0" i="0" baseline="0" dirty="0"/>
            <a:t> </a:t>
          </a:r>
          <a:r>
            <a:rPr lang="tr-TR" b="0" i="0" baseline="0" dirty="0" err="1"/>
            <a:t>ramps</a:t>
          </a:r>
          <a:r>
            <a:rPr lang="tr-TR" b="0" i="0" baseline="0" dirty="0"/>
            <a:t> </a:t>
          </a:r>
          <a:r>
            <a:rPr lang="tr-TR" b="0" i="0" baseline="0" dirty="0" err="1"/>
            <a:t>linearly</a:t>
          </a:r>
          <a:r>
            <a:rPr lang="tr-TR" b="0" i="0" baseline="0" dirty="0"/>
            <a:t> </a:t>
          </a:r>
          <a:r>
            <a:rPr lang="tr-TR" b="0" i="0" baseline="0" dirty="0" err="1"/>
            <a:t>from</a:t>
          </a:r>
          <a:r>
            <a:rPr lang="tr-TR" b="0" i="0" baseline="0" dirty="0"/>
            <a:t> 0% </a:t>
          </a:r>
          <a:r>
            <a:rPr lang="tr-TR" b="0" i="0" baseline="0" dirty="0" err="1"/>
            <a:t>to</a:t>
          </a:r>
          <a:r>
            <a:rPr lang="tr-TR" b="0" i="0" baseline="0" dirty="0"/>
            <a:t> </a:t>
          </a:r>
          <a:r>
            <a:rPr lang="tr-TR" b="0" i="0" baseline="0" dirty="0" err="1"/>
            <a:t>Setpoint</a:t>
          </a:r>
          <a:r>
            <a:rPr lang="tr-TR" b="0" i="0" baseline="0" dirty="0"/>
            <a:t>.</a:t>
          </a:r>
          <a:endParaRPr lang="en-US" dirty="0"/>
        </a:p>
      </dgm:t>
    </dgm:pt>
    <dgm:pt modelId="{5C17FE2B-E4FA-419E-9E92-F6CACC1B9E60}" type="parTrans" cxnId="{50D88470-B29B-4861-99F9-ED0857615916}">
      <dgm:prSet/>
      <dgm:spPr/>
      <dgm:t>
        <a:bodyPr/>
        <a:lstStyle/>
        <a:p>
          <a:endParaRPr lang="en-US"/>
        </a:p>
      </dgm:t>
    </dgm:pt>
    <dgm:pt modelId="{BFE12C02-7392-4843-B3D2-FA5D0BC96866}" type="sibTrans" cxnId="{50D88470-B29B-4861-99F9-ED0857615916}">
      <dgm:prSet/>
      <dgm:spPr/>
      <dgm:t>
        <a:bodyPr/>
        <a:lstStyle/>
        <a:p>
          <a:endParaRPr lang="en-US"/>
        </a:p>
      </dgm:t>
    </dgm:pt>
    <dgm:pt modelId="{C40A4DC8-087C-4D6B-BE7A-810DC6DD5ECB}">
      <dgm:prSet/>
      <dgm:spPr>
        <a:noFill/>
      </dgm:spPr>
      <dgm:t>
        <a:bodyPr/>
        <a:lstStyle/>
        <a:p>
          <a:r>
            <a:rPr lang="tr-TR" b="1" i="0" baseline="0"/>
            <a:t>Objective:</a:t>
          </a:r>
          <a:r>
            <a:rPr lang="tr-TR" b="0" i="0" baseline="0"/>
            <a:t> Analog Controller Bonus.</a:t>
          </a:r>
          <a:endParaRPr lang="en-US"/>
        </a:p>
      </dgm:t>
    </dgm:pt>
    <dgm:pt modelId="{E93CA058-F02A-4E4E-90CB-4BF546A8F143}" type="sibTrans" cxnId="{2F3E7493-C44A-413B-84F2-DB71843D2F73}">
      <dgm:prSet/>
      <dgm:spPr/>
      <dgm:t>
        <a:bodyPr/>
        <a:lstStyle/>
        <a:p>
          <a:endParaRPr lang="en-US"/>
        </a:p>
      </dgm:t>
    </dgm:pt>
    <dgm:pt modelId="{B3971F79-6DE6-46BC-8AEA-1A2658C0612E}" type="parTrans" cxnId="{2F3E7493-C44A-413B-84F2-DB71843D2F73}">
      <dgm:prSet/>
      <dgm:spPr/>
      <dgm:t>
        <a:bodyPr/>
        <a:lstStyle/>
        <a:p>
          <a:endParaRPr lang="en-US"/>
        </a:p>
      </dgm:t>
    </dgm:pt>
    <dgm:pt modelId="{0A962B09-3E67-4846-8F6B-4758DF478E02}">
      <dgm:prSet/>
      <dgm:spPr>
        <a:gradFill rotWithShape="0">
          <a:gsLst>
            <a:gs pos="0">
              <a:schemeClr val="accent6"/>
            </a:gs>
            <a:gs pos="100000">
              <a:schemeClr val="accent6">
                <a:lumMod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tr-TR" b="1" i="0" baseline="0"/>
            <a:t>Controller:</a:t>
          </a:r>
          <a:r>
            <a:rPr lang="tr-TR" b="0" i="0" baseline="0"/>
            <a:t> </a:t>
          </a:r>
          <a:r>
            <a:rPr lang="tr-TR" b="1" i="0" baseline="0"/>
            <a:t>TL494 CN</a:t>
          </a:r>
          <a:r>
            <a:rPr lang="tr-TR" b="0" i="0" baseline="0"/>
            <a:t> (Analog PWM Controller)</a:t>
          </a:r>
          <a:endParaRPr lang="en-US"/>
        </a:p>
      </dgm:t>
    </dgm:pt>
    <dgm:pt modelId="{FE6E802D-CBB4-C249-A671-41E73A665F4E}" type="parTrans" cxnId="{40848DD4-C0E4-9649-A207-C6B987987612}">
      <dgm:prSet/>
      <dgm:spPr/>
      <dgm:t>
        <a:bodyPr/>
        <a:lstStyle/>
        <a:p>
          <a:endParaRPr lang="tr-TR"/>
        </a:p>
      </dgm:t>
    </dgm:pt>
    <dgm:pt modelId="{BD6D14AF-B08D-034E-A2E1-1420011DC555}" type="sibTrans" cxnId="{40848DD4-C0E4-9649-A207-C6B987987612}">
      <dgm:prSet/>
      <dgm:spPr/>
      <dgm:t>
        <a:bodyPr/>
        <a:lstStyle/>
        <a:p>
          <a:endParaRPr lang="tr-TR"/>
        </a:p>
      </dgm:t>
    </dgm:pt>
    <dgm:pt modelId="{7FF8FD97-93E7-CF43-8EC4-8CC1522EA8DB}">
      <dgm:prSet/>
      <dgm:spPr>
        <a:gradFill rotWithShape="0">
          <a:gsLst>
            <a:gs pos="0">
              <a:schemeClr val="accent6"/>
            </a:gs>
            <a:gs pos="100000">
              <a:schemeClr val="accent6">
                <a:lumMod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</a:gradFill>
      </dgm:spPr>
      <dgm:t>
        <a:bodyPr/>
        <a:lstStyle/>
        <a:p>
          <a:r>
            <a:rPr lang="tr-TR" b="1" i="0" baseline="0"/>
            <a:t>Controller:</a:t>
          </a:r>
          <a:r>
            <a:rPr lang="tr-TR" b="0" i="0" baseline="0"/>
            <a:t> </a:t>
          </a:r>
          <a:r>
            <a:rPr lang="tr-TR" b="1" i="0" baseline="0"/>
            <a:t>TL494 CN</a:t>
          </a:r>
          <a:r>
            <a:rPr lang="tr-TR" b="0" i="0" baseline="0"/>
            <a:t> (Analog PWM Controller)</a:t>
          </a:r>
          <a:endParaRPr lang="en-US"/>
        </a:p>
      </dgm:t>
    </dgm:pt>
    <dgm:pt modelId="{A615ACF5-62E3-7F46-94D9-F49BAE3C0AA9}" type="parTrans" cxnId="{FC674EB1-4101-8248-AF47-18C55CA59E6C}">
      <dgm:prSet/>
      <dgm:spPr/>
      <dgm:t>
        <a:bodyPr/>
        <a:lstStyle/>
        <a:p>
          <a:endParaRPr lang="tr-TR"/>
        </a:p>
      </dgm:t>
    </dgm:pt>
    <dgm:pt modelId="{0DF9CC89-65A0-354C-B399-45AF8EC7EBDE}" type="sibTrans" cxnId="{FC674EB1-4101-8248-AF47-18C55CA59E6C}">
      <dgm:prSet/>
      <dgm:spPr/>
      <dgm:t>
        <a:bodyPr/>
        <a:lstStyle/>
        <a:p>
          <a:endParaRPr lang="tr-TR"/>
        </a:p>
      </dgm:t>
    </dgm:pt>
    <dgm:pt modelId="{DCBE2A39-BB9B-EF46-953C-D77E61229931}" type="pres">
      <dgm:prSet presAssocID="{C9C63051-C803-4D75-99A4-06DB9990C118}" presName="linear" presStyleCnt="0">
        <dgm:presLayoutVars>
          <dgm:animLvl val="lvl"/>
          <dgm:resizeHandles val="exact"/>
        </dgm:presLayoutVars>
      </dgm:prSet>
      <dgm:spPr/>
    </dgm:pt>
    <dgm:pt modelId="{F58A337F-22D6-2D42-8282-C8F30DBA82B9}" type="pres">
      <dgm:prSet presAssocID="{7FFBDA59-5C6D-4264-B6C1-E9071BF1F07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FF963C9-6F5A-6B4E-AF8F-8A6208727105}" type="pres">
      <dgm:prSet presAssocID="{99D29155-F0BE-41DA-B577-9411DFBB0FCB}" presName="spacer" presStyleCnt="0"/>
      <dgm:spPr/>
    </dgm:pt>
    <dgm:pt modelId="{E3D0248D-ACBD-FE4D-A140-1E6A4EF99F24}" type="pres">
      <dgm:prSet presAssocID="{C40A4DC8-087C-4D6B-BE7A-810DC6DD5EC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7AD0C28-8CB9-6143-8530-1AF8171F266F}" type="pres">
      <dgm:prSet presAssocID="{E93CA058-F02A-4E4E-90CB-4BF546A8F143}" presName="spacer" presStyleCnt="0"/>
      <dgm:spPr/>
    </dgm:pt>
    <dgm:pt modelId="{E19CFCC9-5474-3343-8892-35A9C8F424BD}" type="pres">
      <dgm:prSet presAssocID="{C3B4CBBF-81EE-44AB-B141-3475C2DF00E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6D3020E-DACE-C140-B417-E9E38E7488D6}" type="pres">
      <dgm:prSet presAssocID="{7F9CD535-B0D4-4CDF-8499-9448C3662C99}" presName="spacer" presStyleCnt="0"/>
      <dgm:spPr/>
    </dgm:pt>
    <dgm:pt modelId="{C74C7D6B-3E64-B646-9AAD-494C0B3E1F6C}" type="pres">
      <dgm:prSet presAssocID="{0A962B09-3E67-4846-8F6B-4758DF478E0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B7C6044-ED01-A54D-A602-E9D9A6B5AC08}" type="pres">
      <dgm:prSet presAssocID="{BD6D14AF-B08D-034E-A2E1-1420011DC555}" presName="spacer" presStyleCnt="0"/>
      <dgm:spPr/>
    </dgm:pt>
    <dgm:pt modelId="{C425B26B-8328-524B-9F63-89CA59AE75B4}" type="pres">
      <dgm:prSet presAssocID="{95EB2312-F78A-412F-B5B7-6B12FFA1082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D12CB63-0D8A-784D-8D43-EF57DFBFBE64}" type="pres">
      <dgm:prSet presAssocID="{BFE12C02-7392-4843-B3D2-FA5D0BC96866}" presName="spacer" presStyleCnt="0"/>
      <dgm:spPr/>
    </dgm:pt>
    <dgm:pt modelId="{F47D2076-06BB-684B-A8B5-9927A2463BBF}" type="pres">
      <dgm:prSet presAssocID="{7FF8FD97-93E7-CF43-8EC4-8CC1522EA8D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F7E0E3E-CB29-4B34-ABB6-6778BD4631E6}" srcId="{C9C63051-C803-4D75-99A4-06DB9990C118}" destId="{7FFBDA59-5C6D-4264-B6C1-E9071BF1F07C}" srcOrd="0" destOrd="0" parTransId="{E17B0080-3C24-4808-9498-BF2116A68334}" sibTransId="{99D29155-F0BE-41DA-B577-9411DFBB0FCB}"/>
    <dgm:cxn modelId="{50D88470-B29B-4861-99F9-ED0857615916}" srcId="{C9C63051-C803-4D75-99A4-06DB9990C118}" destId="{95EB2312-F78A-412F-B5B7-6B12FFA10822}" srcOrd="4" destOrd="0" parTransId="{5C17FE2B-E4FA-419E-9E92-F6CACC1B9E60}" sibTransId="{BFE12C02-7392-4843-B3D2-FA5D0BC96866}"/>
    <dgm:cxn modelId="{E0CAC272-4E6B-984D-812D-7A30ABA3E81C}" type="presOf" srcId="{7FFBDA59-5C6D-4264-B6C1-E9071BF1F07C}" destId="{F58A337F-22D6-2D42-8282-C8F30DBA82B9}" srcOrd="0" destOrd="0" presId="urn:microsoft.com/office/officeart/2005/8/layout/vList2"/>
    <dgm:cxn modelId="{7FF0A474-147E-C947-B643-FD3D7B50D4FD}" type="presOf" srcId="{95EB2312-F78A-412F-B5B7-6B12FFA10822}" destId="{C425B26B-8328-524B-9F63-89CA59AE75B4}" srcOrd="0" destOrd="0" presId="urn:microsoft.com/office/officeart/2005/8/layout/vList2"/>
    <dgm:cxn modelId="{88318A80-45AD-8444-AB1A-697A497DC1E9}" type="presOf" srcId="{C3B4CBBF-81EE-44AB-B141-3475C2DF00ED}" destId="{E19CFCC9-5474-3343-8892-35A9C8F424BD}" srcOrd="0" destOrd="0" presId="urn:microsoft.com/office/officeart/2005/8/layout/vList2"/>
    <dgm:cxn modelId="{2F3E7493-C44A-413B-84F2-DB71843D2F73}" srcId="{C9C63051-C803-4D75-99A4-06DB9990C118}" destId="{C40A4DC8-087C-4D6B-BE7A-810DC6DD5ECB}" srcOrd="1" destOrd="0" parTransId="{B3971F79-6DE6-46BC-8AEA-1A2658C0612E}" sibTransId="{E93CA058-F02A-4E4E-90CB-4BF546A8F143}"/>
    <dgm:cxn modelId="{27E5C1A0-9DC7-C044-97BE-5F11A36BE0BA}" type="presOf" srcId="{0A962B09-3E67-4846-8F6B-4758DF478E02}" destId="{C74C7D6B-3E64-B646-9AAD-494C0B3E1F6C}" srcOrd="0" destOrd="0" presId="urn:microsoft.com/office/officeart/2005/8/layout/vList2"/>
    <dgm:cxn modelId="{423B40AF-B60D-4A65-A87D-30134D655A3F}" srcId="{C9C63051-C803-4D75-99A4-06DB9990C118}" destId="{C3B4CBBF-81EE-44AB-B141-3475C2DF00ED}" srcOrd="2" destOrd="0" parTransId="{C606D263-B919-4F74-A16F-10E2AAD5A63D}" sibTransId="{7F9CD535-B0D4-4CDF-8499-9448C3662C99}"/>
    <dgm:cxn modelId="{FC674EB1-4101-8248-AF47-18C55CA59E6C}" srcId="{C9C63051-C803-4D75-99A4-06DB9990C118}" destId="{7FF8FD97-93E7-CF43-8EC4-8CC1522EA8DB}" srcOrd="5" destOrd="0" parTransId="{A615ACF5-62E3-7F46-94D9-F49BAE3C0AA9}" sibTransId="{0DF9CC89-65A0-354C-B399-45AF8EC7EBDE}"/>
    <dgm:cxn modelId="{B524AAC6-F711-1047-B396-4F766DC5601B}" type="presOf" srcId="{C9C63051-C803-4D75-99A4-06DB9990C118}" destId="{DCBE2A39-BB9B-EF46-953C-D77E61229931}" srcOrd="0" destOrd="0" presId="urn:microsoft.com/office/officeart/2005/8/layout/vList2"/>
    <dgm:cxn modelId="{40848DD4-C0E4-9649-A207-C6B987987612}" srcId="{C9C63051-C803-4D75-99A4-06DB9990C118}" destId="{0A962B09-3E67-4846-8F6B-4758DF478E02}" srcOrd="3" destOrd="0" parTransId="{FE6E802D-CBB4-C249-A671-41E73A665F4E}" sibTransId="{BD6D14AF-B08D-034E-A2E1-1420011DC555}"/>
    <dgm:cxn modelId="{2E577DDD-EA7D-B048-8262-463B8389A24F}" type="presOf" srcId="{C40A4DC8-087C-4D6B-BE7A-810DC6DD5ECB}" destId="{E3D0248D-ACBD-FE4D-A140-1E6A4EF99F24}" srcOrd="0" destOrd="0" presId="urn:microsoft.com/office/officeart/2005/8/layout/vList2"/>
    <dgm:cxn modelId="{E851D6DD-E26F-8741-9A86-4AE7670EC0CC}" type="presOf" srcId="{7FF8FD97-93E7-CF43-8EC4-8CC1522EA8DB}" destId="{F47D2076-06BB-684B-A8B5-9927A2463BBF}" srcOrd="0" destOrd="0" presId="urn:microsoft.com/office/officeart/2005/8/layout/vList2"/>
    <dgm:cxn modelId="{AE8D0230-22CC-3A43-B9AE-0263E42F4DB1}" type="presParOf" srcId="{DCBE2A39-BB9B-EF46-953C-D77E61229931}" destId="{F58A337F-22D6-2D42-8282-C8F30DBA82B9}" srcOrd="0" destOrd="0" presId="urn:microsoft.com/office/officeart/2005/8/layout/vList2"/>
    <dgm:cxn modelId="{EE63B991-85DF-994C-81AA-579D063B604B}" type="presParOf" srcId="{DCBE2A39-BB9B-EF46-953C-D77E61229931}" destId="{AFF963C9-6F5A-6B4E-AF8F-8A6208727105}" srcOrd="1" destOrd="0" presId="urn:microsoft.com/office/officeart/2005/8/layout/vList2"/>
    <dgm:cxn modelId="{E0CDBA7C-43F2-8F45-928D-1F9FC31FCC54}" type="presParOf" srcId="{DCBE2A39-BB9B-EF46-953C-D77E61229931}" destId="{E3D0248D-ACBD-FE4D-A140-1E6A4EF99F24}" srcOrd="2" destOrd="0" presId="urn:microsoft.com/office/officeart/2005/8/layout/vList2"/>
    <dgm:cxn modelId="{80CE5A09-7B9E-324B-BC2E-092BD66BFF1D}" type="presParOf" srcId="{DCBE2A39-BB9B-EF46-953C-D77E61229931}" destId="{A7AD0C28-8CB9-6143-8530-1AF8171F266F}" srcOrd="3" destOrd="0" presId="urn:microsoft.com/office/officeart/2005/8/layout/vList2"/>
    <dgm:cxn modelId="{38CCAD32-AC61-3148-B9C6-5C2527A2E2F1}" type="presParOf" srcId="{DCBE2A39-BB9B-EF46-953C-D77E61229931}" destId="{E19CFCC9-5474-3343-8892-35A9C8F424BD}" srcOrd="4" destOrd="0" presId="urn:microsoft.com/office/officeart/2005/8/layout/vList2"/>
    <dgm:cxn modelId="{0D934002-D15F-D54C-9E76-02AEE17D7293}" type="presParOf" srcId="{DCBE2A39-BB9B-EF46-953C-D77E61229931}" destId="{46D3020E-DACE-C140-B417-E9E38E7488D6}" srcOrd="5" destOrd="0" presId="urn:microsoft.com/office/officeart/2005/8/layout/vList2"/>
    <dgm:cxn modelId="{19B4911F-A1F2-8943-A5C7-F98931988C7E}" type="presParOf" srcId="{DCBE2A39-BB9B-EF46-953C-D77E61229931}" destId="{C74C7D6B-3E64-B646-9AAD-494C0B3E1F6C}" srcOrd="6" destOrd="0" presId="urn:microsoft.com/office/officeart/2005/8/layout/vList2"/>
    <dgm:cxn modelId="{30831FE0-6230-824B-A116-9FCB21A3A3E0}" type="presParOf" srcId="{DCBE2A39-BB9B-EF46-953C-D77E61229931}" destId="{EB7C6044-ED01-A54D-A602-E9D9A6B5AC08}" srcOrd="7" destOrd="0" presId="urn:microsoft.com/office/officeart/2005/8/layout/vList2"/>
    <dgm:cxn modelId="{5B0D4CE1-E1C0-BC4F-B050-274E6830929F}" type="presParOf" srcId="{DCBE2A39-BB9B-EF46-953C-D77E61229931}" destId="{C425B26B-8328-524B-9F63-89CA59AE75B4}" srcOrd="8" destOrd="0" presId="urn:microsoft.com/office/officeart/2005/8/layout/vList2"/>
    <dgm:cxn modelId="{52BB3C7C-AE17-754C-B811-F4443274C699}" type="presParOf" srcId="{DCBE2A39-BB9B-EF46-953C-D77E61229931}" destId="{BD12CB63-0D8A-784D-8D43-EF57DFBFBE64}" srcOrd="9" destOrd="0" presId="urn:microsoft.com/office/officeart/2005/8/layout/vList2"/>
    <dgm:cxn modelId="{A0134218-2909-1646-AC77-3563939BE1FC}" type="presParOf" srcId="{DCBE2A39-BB9B-EF46-953C-D77E61229931}" destId="{F47D2076-06BB-684B-A8B5-9927A2463BB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001035-3EB7-4458-85AA-8B27A692C78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433BEA-25E3-4BEC-8396-44B2EE29BD76}">
      <dgm:prSet/>
      <dgm:spPr/>
      <dgm:t>
        <a:bodyPr/>
        <a:lstStyle/>
        <a:p>
          <a:r>
            <a:rPr lang="en-US" b="1" i="0" dirty="0"/>
            <a:t>Conduction Losses: </a:t>
          </a:r>
          <a:r>
            <a:rPr lang="en-US" b="0" i="0" dirty="0"/>
            <a:t>The general formula for conduction loss is approximated as:</a:t>
          </a:r>
          <a:br>
            <a:rPr lang="en-US" b="0" i="0" dirty="0"/>
          </a:br>
          <a:br>
            <a:rPr lang="en-US" dirty="0"/>
          </a:br>
          <a:endParaRPr lang="en-US" dirty="0"/>
        </a:p>
      </dgm:t>
    </dgm:pt>
    <dgm:pt modelId="{ED9AAE78-752E-4AA2-AAA3-D2693B7D6075}" type="parTrans" cxnId="{3E467725-41AC-48DB-9325-4473BC7398FC}">
      <dgm:prSet/>
      <dgm:spPr/>
      <dgm:t>
        <a:bodyPr/>
        <a:lstStyle/>
        <a:p>
          <a:endParaRPr lang="en-US"/>
        </a:p>
      </dgm:t>
    </dgm:pt>
    <dgm:pt modelId="{15E900C8-4E87-41F8-A680-38FF4AA781DB}" type="sibTrans" cxnId="{3E467725-41AC-48DB-9325-4473BC7398FC}">
      <dgm:prSet/>
      <dgm:spPr/>
      <dgm:t>
        <a:bodyPr/>
        <a:lstStyle/>
        <a:p>
          <a:endParaRPr lang="en-US"/>
        </a:p>
      </dgm:t>
    </dgm:pt>
    <dgm:pt modelId="{B048AF95-F233-45A6-A5A8-4199AD6AB583}">
      <dgm:prSet/>
      <dgm:spPr/>
      <dgm:t>
        <a:bodyPr/>
        <a:lstStyle/>
        <a:p>
          <a:r>
            <a:rPr lang="en-US" b="1" i="0"/>
            <a:t>For the IGBT (Assuming </a:t>
          </a:r>
          <a:r>
            <a:rPr lang="en-US" b="0" i="0"/>
            <a:t>𝑉𝐶𝐸(𝑠𝑎𝑡) ≈ 2.0 𝑉</a:t>
          </a:r>
          <a:r>
            <a:rPr lang="en-US" b="1" i="0"/>
            <a:t>at 20 A and Duty Cycle </a:t>
          </a:r>
          <a:r>
            <a:rPr lang="en-US" b="0" i="0"/>
            <a:t>𝐷 ≈ 0.5</a:t>
          </a:r>
          <a:r>
            <a:rPr lang="en-US" b="1" i="0"/>
            <a:t>):</a:t>
          </a:r>
          <a:r>
            <a:rPr lang="en-US"/>
            <a:t> </a:t>
          </a:r>
          <a:br>
            <a:rPr lang="en-US"/>
          </a:br>
          <a:endParaRPr lang="en-US"/>
        </a:p>
      </dgm:t>
    </dgm:pt>
    <dgm:pt modelId="{7EB65F15-07D2-430E-A3EC-34BCEF0CA238}" type="parTrans" cxnId="{A6D964AF-508B-4EFC-8B21-506AD705323E}">
      <dgm:prSet/>
      <dgm:spPr/>
      <dgm:t>
        <a:bodyPr/>
        <a:lstStyle/>
        <a:p>
          <a:endParaRPr lang="en-US"/>
        </a:p>
      </dgm:t>
    </dgm:pt>
    <dgm:pt modelId="{C0216AEE-B082-47BB-AB02-857FCAE1A0C0}" type="sibTrans" cxnId="{A6D964AF-508B-4EFC-8B21-506AD705323E}">
      <dgm:prSet/>
      <dgm:spPr/>
      <dgm:t>
        <a:bodyPr/>
        <a:lstStyle/>
        <a:p>
          <a:endParaRPr lang="en-US"/>
        </a:p>
      </dgm:t>
    </dgm:pt>
    <dgm:pt modelId="{698D7405-2A4F-4890-B2E9-92646085A0D0}">
      <dgm:prSet/>
      <dgm:spPr/>
      <dgm:t>
        <a:bodyPr/>
        <a:lstStyle/>
        <a:p>
          <a:r>
            <a:rPr lang="en-US" b="1" i="0" dirty="0"/>
            <a:t>For the Diode (Assuming </a:t>
          </a:r>
          <a:r>
            <a:rPr lang="en-US" b="0" i="0" dirty="0"/>
            <a:t>𝑉𝑓 ≈ 1.5 𝑉</a:t>
          </a:r>
          <a:r>
            <a:rPr lang="en-US" b="1" i="0" dirty="0"/>
            <a:t>):</a:t>
          </a:r>
          <a:r>
            <a:rPr lang="en-US" dirty="0"/>
            <a:t> </a:t>
          </a:r>
          <a:br>
            <a:rPr lang="en-US" dirty="0"/>
          </a:br>
          <a:endParaRPr lang="en-US" dirty="0"/>
        </a:p>
      </dgm:t>
    </dgm:pt>
    <dgm:pt modelId="{E472FF73-BA3B-4C0A-9954-F176AAD822A5}" type="parTrans" cxnId="{2A2BFD7C-FFBE-4F47-8FCD-06AAE87913AF}">
      <dgm:prSet/>
      <dgm:spPr/>
      <dgm:t>
        <a:bodyPr/>
        <a:lstStyle/>
        <a:p>
          <a:endParaRPr lang="en-US"/>
        </a:p>
      </dgm:t>
    </dgm:pt>
    <dgm:pt modelId="{C695DEEA-FACB-438A-ACB0-98DC8D66A231}" type="sibTrans" cxnId="{2A2BFD7C-FFBE-4F47-8FCD-06AAE87913AF}">
      <dgm:prSet/>
      <dgm:spPr/>
      <dgm:t>
        <a:bodyPr/>
        <a:lstStyle/>
        <a:p>
          <a:endParaRPr lang="en-US"/>
        </a:p>
      </dgm:t>
    </dgm:pt>
    <dgm:pt modelId="{3CBCA503-E4E8-47AF-98CA-245BD8D4A76F}">
      <dgm:prSet/>
      <dgm:spPr/>
      <dgm:t>
        <a:bodyPr/>
        <a:lstStyle/>
        <a:p>
          <a:r>
            <a:rPr lang="en-US" b="1" i="0"/>
            <a:t>Total Conduction Loss:</a:t>
          </a:r>
          <a:r>
            <a:rPr lang="en-US"/>
            <a:t> </a:t>
          </a:r>
          <a:br>
            <a:rPr lang="en-US"/>
          </a:br>
          <a:endParaRPr lang="en-US"/>
        </a:p>
      </dgm:t>
    </dgm:pt>
    <dgm:pt modelId="{52E580E0-A6D7-4C7B-821E-B0DFB6F0C48C}" type="parTrans" cxnId="{C11072F6-CE53-4856-B869-8B06D3D7C35E}">
      <dgm:prSet/>
      <dgm:spPr/>
      <dgm:t>
        <a:bodyPr/>
        <a:lstStyle/>
        <a:p>
          <a:endParaRPr lang="en-US"/>
        </a:p>
      </dgm:t>
    </dgm:pt>
    <dgm:pt modelId="{587A9B22-14C0-430C-B1C1-F4D485F25B78}" type="sibTrans" cxnId="{C11072F6-CE53-4856-B869-8B06D3D7C35E}">
      <dgm:prSet/>
      <dgm:spPr/>
      <dgm:t>
        <a:bodyPr/>
        <a:lstStyle/>
        <a:p>
          <a:endParaRPr lang="en-US"/>
        </a:p>
      </dgm:t>
    </dgm:pt>
    <dgm:pt modelId="{FC2BABCB-C521-994A-9F9B-045111D71BF7}" type="pres">
      <dgm:prSet presAssocID="{DC001035-3EB7-4458-85AA-8B27A692C78B}" presName="vert0" presStyleCnt="0">
        <dgm:presLayoutVars>
          <dgm:dir/>
          <dgm:animOne val="branch"/>
          <dgm:animLvl val="lvl"/>
        </dgm:presLayoutVars>
      </dgm:prSet>
      <dgm:spPr/>
    </dgm:pt>
    <dgm:pt modelId="{033CE292-D0F6-3743-876C-B729167F3E0D}" type="pres">
      <dgm:prSet presAssocID="{24433BEA-25E3-4BEC-8396-44B2EE29BD76}" presName="thickLine" presStyleLbl="alignNode1" presStyleIdx="0" presStyleCnt="4"/>
      <dgm:spPr/>
    </dgm:pt>
    <dgm:pt modelId="{91944392-55D7-D14C-B0E7-7738B9F2A1B0}" type="pres">
      <dgm:prSet presAssocID="{24433BEA-25E3-4BEC-8396-44B2EE29BD76}" presName="horz1" presStyleCnt="0"/>
      <dgm:spPr/>
    </dgm:pt>
    <dgm:pt modelId="{A14A0232-30C7-AB4D-A7F7-A4AFBEBE6B28}" type="pres">
      <dgm:prSet presAssocID="{24433BEA-25E3-4BEC-8396-44B2EE29BD76}" presName="tx1" presStyleLbl="revTx" presStyleIdx="0" presStyleCnt="4"/>
      <dgm:spPr/>
    </dgm:pt>
    <dgm:pt modelId="{0FEBEDC6-7214-EE45-8B99-256248B6A725}" type="pres">
      <dgm:prSet presAssocID="{24433BEA-25E3-4BEC-8396-44B2EE29BD76}" presName="vert1" presStyleCnt="0"/>
      <dgm:spPr/>
    </dgm:pt>
    <dgm:pt modelId="{E59FFDD1-8BCA-5B4B-BF28-CD9B4E77BCAA}" type="pres">
      <dgm:prSet presAssocID="{B048AF95-F233-45A6-A5A8-4199AD6AB583}" presName="thickLine" presStyleLbl="alignNode1" presStyleIdx="1" presStyleCnt="4"/>
      <dgm:spPr/>
    </dgm:pt>
    <dgm:pt modelId="{3E45A1FA-C871-1542-8DB9-3AC6AFE1D8C7}" type="pres">
      <dgm:prSet presAssocID="{B048AF95-F233-45A6-A5A8-4199AD6AB583}" presName="horz1" presStyleCnt="0"/>
      <dgm:spPr/>
    </dgm:pt>
    <dgm:pt modelId="{093498D7-D3D6-494F-91DD-939D8EDD6DDD}" type="pres">
      <dgm:prSet presAssocID="{B048AF95-F233-45A6-A5A8-4199AD6AB583}" presName="tx1" presStyleLbl="revTx" presStyleIdx="1" presStyleCnt="4"/>
      <dgm:spPr/>
    </dgm:pt>
    <dgm:pt modelId="{6E30C0C7-5F67-9D4D-ACF0-B07780F47B2D}" type="pres">
      <dgm:prSet presAssocID="{B048AF95-F233-45A6-A5A8-4199AD6AB583}" presName="vert1" presStyleCnt="0"/>
      <dgm:spPr/>
    </dgm:pt>
    <dgm:pt modelId="{6861E32F-C9E6-EE40-B188-11A07BA3BFA7}" type="pres">
      <dgm:prSet presAssocID="{698D7405-2A4F-4890-B2E9-92646085A0D0}" presName="thickLine" presStyleLbl="alignNode1" presStyleIdx="2" presStyleCnt="4"/>
      <dgm:spPr/>
    </dgm:pt>
    <dgm:pt modelId="{F93017D8-072D-AF49-BFBB-E9D72C41FE7D}" type="pres">
      <dgm:prSet presAssocID="{698D7405-2A4F-4890-B2E9-92646085A0D0}" presName="horz1" presStyleCnt="0"/>
      <dgm:spPr/>
    </dgm:pt>
    <dgm:pt modelId="{242EFE39-B569-3E4B-BEAB-1E3CC111B4DE}" type="pres">
      <dgm:prSet presAssocID="{698D7405-2A4F-4890-B2E9-92646085A0D0}" presName="tx1" presStyleLbl="revTx" presStyleIdx="2" presStyleCnt="4"/>
      <dgm:spPr/>
    </dgm:pt>
    <dgm:pt modelId="{C66F1A9D-E996-6443-A57D-0C0CDBD09E7F}" type="pres">
      <dgm:prSet presAssocID="{698D7405-2A4F-4890-B2E9-92646085A0D0}" presName="vert1" presStyleCnt="0"/>
      <dgm:spPr/>
    </dgm:pt>
    <dgm:pt modelId="{552DA5E0-6872-BF4D-A226-F2C80004CB42}" type="pres">
      <dgm:prSet presAssocID="{3CBCA503-E4E8-47AF-98CA-245BD8D4A76F}" presName="thickLine" presStyleLbl="alignNode1" presStyleIdx="3" presStyleCnt="4"/>
      <dgm:spPr/>
    </dgm:pt>
    <dgm:pt modelId="{5A50EB59-2534-4F41-9AD8-A98519E8D7B0}" type="pres">
      <dgm:prSet presAssocID="{3CBCA503-E4E8-47AF-98CA-245BD8D4A76F}" presName="horz1" presStyleCnt="0"/>
      <dgm:spPr/>
    </dgm:pt>
    <dgm:pt modelId="{4FD6CAB2-7070-E142-8271-5F4754E32528}" type="pres">
      <dgm:prSet presAssocID="{3CBCA503-E4E8-47AF-98CA-245BD8D4A76F}" presName="tx1" presStyleLbl="revTx" presStyleIdx="3" presStyleCnt="4"/>
      <dgm:spPr/>
    </dgm:pt>
    <dgm:pt modelId="{8602A52C-8539-A045-8950-B0499B7D281E}" type="pres">
      <dgm:prSet presAssocID="{3CBCA503-E4E8-47AF-98CA-245BD8D4A76F}" presName="vert1" presStyleCnt="0"/>
      <dgm:spPr/>
    </dgm:pt>
  </dgm:ptLst>
  <dgm:cxnLst>
    <dgm:cxn modelId="{9BF47C1C-D7A5-A04F-81F4-47B8EE86BF54}" type="presOf" srcId="{B048AF95-F233-45A6-A5A8-4199AD6AB583}" destId="{093498D7-D3D6-494F-91DD-939D8EDD6DDD}" srcOrd="0" destOrd="0" presId="urn:microsoft.com/office/officeart/2008/layout/LinedList"/>
    <dgm:cxn modelId="{3E467725-41AC-48DB-9325-4473BC7398FC}" srcId="{DC001035-3EB7-4458-85AA-8B27A692C78B}" destId="{24433BEA-25E3-4BEC-8396-44B2EE29BD76}" srcOrd="0" destOrd="0" parTransId="{ED9AAE78-752E-4AA2-AAA3-D2693B7D6075}" sibTransId="{15E900C8-4E87-41F8-A680-38FF4AA781DB}"/>
    <dgm:cxn modelId="{F1E50758-28A2-1B4B-948D-723311AD65CF}" type="presOf" srcId="{DC001035-3EB7-4458-85AA-8B27A692C78B}" destId="{FC2BABCB-C521-994A-9F9B-045111D71BF7}" srcOrd="0" destOrd="0" presId="urn:microsoft.com/office/officeart/2008/layout/LinedList"/>
    <dgm:cxn modelId="{2A2BFD7C-FFBE-4F47-8FCD-06AAE87913AF}" srcId="{DC001035-3EB7-4458-85AA-8B27A692C78B}" destId="{698D7405-2A4F-4890-B2E9-92646085A0D0}" srcOrd="2" destOrd="0" parTransId="{E472FF73-BA3B-4C0A-9954-F176AAD822A5}" sibTransId="{C695DEEA-FACB-438A-ACB0-98DC8D66A231}"/>
    <dgm:cxn modelId="{4B60709B-481F-4747-B88A-893F31B10E43}" type="presOf" srcId="{24433BEA-25E3-4BEC-8396-44B2EE29BD76}" destId="{A14A0232-30C7-AB4D-A7F7-A4AFBEBE6B28}" srcOrd="0" destOrd="0" presId="urn:microsoft.com/office/officeart/2008/layout/LinedList"/>
    <dgm:cxn modelId="{A6D964AF-508B-4EFC-8B21-506AD705323E}" srcId="{DC001035-3EB7-4458-85AA-8B27A692C78B}" destId="{B048AF95-F233-45A6-A5A8-4199AD6AB583}" srcOrd="1" destOrd="0" parTransId="{7EB65F15-07D2-430E-A3EC-34BCEF0CA238}" sibTransId="{C0216AEE-B082-47BB-AB02-857FCAE1A0C0}"/>
    <dgm:cxn modelId="{8AF09ABC-8D99-E24E-B8C6-6723C542E5EB}" type="presOf" srcId="{3CBCA503-E4E8-47AF-98CA-245BD8D4A76F}" destId="{4FD6CAB2-7070-E142-8271-5F4754E32528}" srcOrd="0" destOrd="0" presId="urn:microsoft.com/office/officeart/2008/layout/LinedList"/>
    <dgm:cxn modelId="{D455C8ED-D314-7F44-BF94-829242F78660}" type="presOf" srcId="{698D7405-2A4F-4890-B2E9-92646085A0D0}" destId="{242EFE39-B569-3E4B-BEAB-1E3CC111B4DE}" srcOrd="0" destOrd="0" presId="urn:microsoft.com/office/officeart/2008/layout/LinedList"/>
    <dgm:cxn modelId="{C11072F6-CE53-4856-B869-8B06D3D7C35E}" srcId="{DC001035-3EB7-4458-85AA-8B27A692C78B}" destId="{3CBCA503-E4E8-47AF-98CA-245BD8D4A76F}" srcOrd="3" destOrd="0" parTransId="{52E580E0-A6D7-4C7B-821E-B0DFB6F0C48C}" sibTransId="{587A9B22-14C0-430C-B1C1-F4D485F25B78}"/>
    <dgm:cxn modelId="{776BD04F-0681-F044-B976-82A20CC15F3F}" type="presParOf" srcId="{FC2BABCB-C521-994A-9F9B-045111D71BF7}" destId="{033CE292-D0F6-3743-876C-B729167F3E0D}" srcOrd="0" destOrd="0" presId="urn:microsoft.com/office/officeart/2008/layout/LinedList"/>
    <dgm:cxn modelId="{58301A2D-2D7C-B24D-8959-6C4345358139}" type="presParOf" srcId="{FC2BABCB-C521-994A-9F9B-045111D71BF7}" destId="{91944392-55D7-D14C-B0E7-7738B9F2A1B0}" srcOrd="1" destOrd="0" presId="urn:microsoft.com/office/officeart/2008/layout/LinedList"/>
    <dgm:cxn modelId="{7ECEDBD5-F169-6344-8F64-0C461CEA56C1}" type="presParOf" srcId="{91944392-55D7-D14C-B0E7-7738B9F2A1B0}" destId="{A14A0232-30C7-AB4D-A7F7-A4AFBEBE6B28}" srcOrd="0" destOrd="0" presId="urn:microsoft.com/office/officeart/2008/layout/LinedList"/>
    <dgm:cxn modelId="{86FB2CCA-285A-C84E-8A1F-507CB4461AE6}" type="presParOf" srcId="{91944392-55D7-D14C-B0E7-7738B9F2A1B0}" destId="{0FEBEDC6-7214-EE45-8B99-256248B6A725}" srcOrd="1" destOrd="0" presId="urn:microsoft.com/office/officeart/2008/layout/LinedList"/>
    <dgm:cxn modelId="{472DB713-DAA1-AF45-AEF7-29AEC005FD0D}" type="presParOf" srcId="{FC2BABCB-C521-994A-9F9B-045111D71BF7}" destId="{E59FFDD1-8BCA-5B4B-BF28-CD9B4E77BCAA}" srcOrd="2" destOrd="0" presId="urn:microsoft.com/office/officeart/2008/layout/LinedList"/>
    <dgm:cxn modelId="{49E66ADE-CB21-464A-91C9-51CB0C30121D}" type="presParOf" srcId="{FC2BABCB-C521-994A-9F9B-045111D71BF7}" destId="{3E45A1FA-C871-1542-8DB9-3AC6AFE1D8C7}" srcOrd="3" destOrd="0" presId="urn:microsoft.com/office/officeart/2008/layout/LinedList"/>
    <dgm:cxn modelId="{F9DD1A98-4639-8D41-A384-5273DED6FF52}" type="presParOf" srcId="{3E45A1FA-C871-1542-8DB9-3AC6AFE1D8C7}" destId="{093498D7-D3D6-494F-91DD-939D8EDD6DDD}" srcOrd="0" destOrd="0" presId="urn:microsoft.com/office/officeart/2008/layout/LinedList"/>
    <dgm:cxn modelId="{3D18F0AA-CFA2-1742-97B3-E4A0E79C1547}" type="presParOf" srcId="{3E45A1FA-C871-1542-8DB9-3AC6AFE1D8C7}" destId="{6E30C0C7-5F67-9D4D-ACF0-B07780F47B2D}" srcOrd="1" destOrd="0" presId="urn:microsoft.com/office/officeart/2008/layout/LinedList"/>
    <dgm:cxn modelId="{A83BA8BE-4829-7643-84D5-CD9C1FC716A1}" type="presParOf" srcId="{FC2BABCB-C521-994A-9F9B-045111D71BF7}" destId="{6861E32F-C9E6-EE40-B188-11A07BA3BFA7}" srcOrd="4" destOrd="0" presId="urn:microsoft.com/office/officeart/2008/layout/LinedList"/>
    <dgm:cxn modelId="{C1E16B6E-9528-954F-A493-90F986F86E80}" type="presParOf" srcId="{FC2BABCB-C521-994A-9F9B-045111D71BF7}" destId="{F93017D8-072D-AF49-BFBB-E9D72C41FE7D}" srcOrd="5" destOrd="0" presId="urn:microsoft.com/office/officeart/2008/layout/LinedList"/>
    <dgm:cxn modelId="{6BB3D666-DA82-644F-BFF5-F9CB57EB7A8C}" type="presParOf" srcId="{F93017D8-072D-AF49-BFBB-E9D72C41FE7D}" destId="{242EFE39-B569-3E4B-BEAB-1E3CC111B4DE}" srcOrd="0" destOrd="0" presId="urn:microsoft.com/office/officeart/2008/layout/LinedList"/>
    <dgm:cxn modelId="{AD906A8E-C6CC-114D-9690-652EB6BFD510}" type="presParOf" srcId="{F93017D8-072D-AF49-BFBB-E9D72C41FE7D}" destId="{C66F1A9D-E996-6443-A57D-0C0CDBD09E7F}" srcOrd="1" destOrd="0" presId="urn:microsoft.com/office/officeart/2008/layout/LinedList"/>
    <dgm:cxn modelId="{0B70388B-58D4-D54E-89E7-A68629D48274}" type="presParOf" srcId="{FC2BABCB-C521-994A-9F9B-045111D71BF7}" destId="{552DA5E0-6872-BF4D-A226-F2C80004CB42}" srcOrd="6" destOrd="0" presId="urn:microsoft.com/office/officeart/2008/layout/LinedList"/>
    <dgm:cxn modelId="{1BE03F58-12D3-0045-9796-8C6388D6CE20}" type="presParOf" srcId="{FC2BABCB-C521-994A-9F9B-045111D71BF7}" destId="{5A50EB59-2534-4F41-9AD8-A98519E8D7B0}" srcOrd="7" destOrd="0" presId="urn:microsoft.com/office/officeart/2008/layout/LinedList"/>
    <dgm:cxn modelId="{565DE567-AE60-6F41-9AEC-30C29A2BBB57}" type="presParOf" srcId="{5A50EB59-2534-4F41-9AD8-A98519E8D7B0}" destId="{4FD6CAB2-7070-E142-8271-5F4754E32528}" srcOrd="0" destOrd="0" presId="urn:microsoft.com/office/officeart/2008/layout/LinedList"/>
    <dgm:cxn modelId="{5D991B63-CC8C-B644-A894-12638904D503}" type="presParOf" srcId="{5A50EB59-2534-4F41-9AD8-A98519E8D7B0}" destId="{8602A52C-8539-A045-8950-B0499B7D281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4000B-DD93-DE4A-BDC8-3B05F033A924}">
      <dsp:nvSpPr>
        <dsp:cNvPr id="0" name=""/>
        <dsp:cNvSpPr/>
      </dsp:nvSpPr>
      <dsp:spPr>
        <a:xfrm>
          <a:off x="1184655" y="3925"/>
          <a:ext cx="3998601" cy="23991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900" kern="1200"/>
            <a:t>Single Phase Diode Rectifier + Buck Converter</a:t>
          </a:r>
          <a:endParaRPr lang="en-US" sz="3900" kern="1200"/>
        </a:p>
      </dsp:txBody>
      <dsp:txXfrm>
        <a:off x="1254924" y="74194"/>
        <a:ext cx="3858063" cy="2258622"/>
      </dsp:txXfrm>
    </dsp:sp>
    <dsp:sp modelId="{5F91A390-394C-984C-A080-5D0E5DA15A8A}">
      <dsp:nvSpPr>
        <dsp:cNvPr id="0" name=""/>
        <dsp:cNvSpPr/>
      </dsp:nvSpPr>
      <dsp:spPr>
        <a:xfrm rot="5400000">
          <a:off x="2760104" y="2682988"/>
          <a:ext cx="847703" cy="991653"/>
        </a:xfrm>
        <a:prstGeom prst="dodecagon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 rot="-5400000">
        <a:off x="2886461" y="2754963"/>
        <a:ext cx="594991" cy="593392"/>
      </dsp:txXfrm>
    </dsp:sp>
    <dsp:sp modelId="{F010814F-E861-494B-B918-6B24DAB6915F}">
      <dsp:nvSpPr>
        <dsp:cNvPr id="0" name=""/>
        <dsp:cNvSpPr/>
      </dsp:nvSpPr>
      <dsp:spPr>
        <a:xfrm>
          <a:off x="1184655" y="4002526"/>
          <a:ext cx="3998601" cy="239916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900" kern="1200"/>
            <a:t>Three Phase Diode Rectifier + Buck Converter</a:t>
          </a:r>
          <a:endParaRPr lang="en-US" sz="3900" kern="1200"/>
        </a:p>
      </dsp:txBody>
      <dsp:txXfrm>
        <a:off x="1254924" y="4072795"/>
        <a:ext cx="3858063" cy="22586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69320-7B74-4BAF-BBEC-34E64B9FE298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2592F8-88EF-467C-AA02-055A7B827991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C2140-27B0-4495-94B1-122C8A51BAD5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b="0" i="0" kern="1200" baseline="0"/>
            <a:t>Single-Phase rectification causes deep voltage ripples (100 Hz).</a:t>
          </a:r>
          <a:endParaRPr lang="en-US" sz="2500" kern="1200"/>
        </a:p>
      </dsp:txBody>
      <dsp:txXfrm>
        <a:off x="1844034" y="682"/>
        <a:ext cx="4401230" cy="1596566"/>
      </dsp:txXfrm>
    </dsp:sp>
    <dsp:sp modelId="{876BD100-2422-4EF0-8401-30FF555D0CDE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B4F21-083C-4DD3-A3C4-6BD92889E34B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B37C6-C838-4842-A100-86BAE28F930A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b="0" i="0" kern="1200" baseline="0"/>
            <a:t>To maintain stable 180V output, a huge capacitor (&gt;2000 mikroF) is required.</a:t>
          </a:r>
          <a:endParaRPr lang="en-US" sz="2500" kern="1200"/>
        </a:p>
      </dsp:txBody>
      <dsp:txXfrm>
        <a:off x="1844034" y="1996390"/>
        <a:ext cx="4401230" cy="1596566"/>
      </dsp:txXfrm>
    </dsp:sp>
    <dsp:sp modelId="{00F377CD-E88B-4480-9206-086FEB1BB6F4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D2A41-77BB-4A6D-979D-9FC949298B43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CD5F1-B3FB-4AA2-9F48-097F0AB9D9C5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500" b="1" kern="1200"/>
            <a:t>Also </a:t>
          </a:r>
          <a:r>
            <a:rPr lang="tr-TR" sz="2500" b="0" i="0" kern="1200" baseline="0"/>
            <a:t>Lab inventory only provides max </a:t>
          </a:r>
          <a:r>
            <a:rPr lang="tr-TR" sz="2500" b="1" i="0" kern="1200" baseline="0"/>
            <a:t>470 mikroF</a:t>
          </a:r>
          <a:r>
            <a:rPr lang="tr-TR" sz="2500" b="0" i="0" kern="1200" baseline="0"/>
            <a:t> (High Voltage) capacitors.</a:t>
          </a:r>
          <a:endParaRPr lang="en-US" sz="25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371698-E052-FB46-AAC8-5479BDCCC4DE}">
      <dsp:nvSpPr>
        <dsp:cNvPr id="0" name=""/>
        <dsp:cNvSpPr/>
      </dsp:nvSpPr>
      <dsp:spPr>
        <a:xfrm>
          <a:off x="0" y="4207397"/>
          <a:ext cx="6245265" cy="138096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b="1" kern="1200"/>
            <a:t>Result:</a:t>
          </a:r>
          <a:r>
            <a:rPr lang="tr-TR" sz="2400" kern="1200"/>
            <a:t> The available </a:t>
          </a:r>
          <a:r>
            <a:rPr lang="tr-TR" sz="2400" b="1" kern="1200"/>
            <a:t>470 mikroF</a:t>
          </a:r>
          <a:r>
            <a:rPr lang="tr-TR" sz="2400" kern="1200"/>
            <a:t> capacitor is perfectly sufficient for filtering, eliminating the need for unavailable components</a:t>
          </a:r>
          <a:r>
            <a:rPr lang="tr-TR" sz="2400" b="0" i="0" kern="1200" baseline="0"/>
            <a:t>.</a:t>
          </a:r>
          <a:endParaRPr lang="en-US" sz="2400" kern="1200"/>
        </a:p>
      </dsp:txBody>
      <dsp:txXfrm>
        <a:off x="0" y="4207397"/>
        <a:ext cx="6245265" cy="1380961"/>
      </dsp:txXfrm>
    </dsp:sp>
    <dsp:sp modelId="{D57032CA-4EEF-3745-A0BE-0DE5DE272D9D}">
      <dsp:nvSpPr>
        <dsp:cNvPr id="0" name=""/>
        <dsp:cNvSpPr/>
      </dsp:nvSpPr>
      <dsp:spPr>
        <a:xfrm rot="10800000">
          <a:off x="0" y="2104192"/>
          <a:ext cx="6245265" cy="2123919"/>
        </a:xfrm>
        <a:prstGeom prst="upArrowCallou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3-Phase DC bus never drops to zero (V_min = 1.5* V_peak).</a:t>
          </a:r>
          <a:endParaRPr lang="en-US" sz="2400" kern="1200"/>
        </a:p>
      </dsp:txBody>
      <dsp:txXfrm rot="10800000">
        <a:off x="0" y="2104192"/>
        <a:ext cx="6245265" cy="1380059"/>
      </dsp:txXfrm>
    </dsp:sp>
    <dsp:sp modelId="{140046CC-9F3B-C141-AF90-12C85AE1E558}">
      <dsp:nvSpPr>
        <dsp:cNvPr id="0" name=""/>
        <dsp:cNvSpPr/>
      </dsp:nvSpPr>
      <dsp:spPr>
        <a:xfrm rot="10800000">
          <a:off x="0" y="987"/>
          <a:ext cx="6245265" cy="2123919"/>
        </a:xfrm>
        <a:prstGeom prst="upArrowCallou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b="1" kern="1200"/>
            <a:t>Selected:</a:t>
          </a:r>
          <a:r>
            <a:rPr lang="tr-TR" sz="2400" kern="1200"/>
            <a:t> </a:t>
          </a:r>
          <a:r>
            <a:rPr lang="tr-TR" sz="2400" b="1" kern="1200"/>
            <a:t>Three-Phase Rectifier</a:t>
          </a:r>
          <a:r>
            <a:rPr lang="tr-TR" sz="2400" kern="1200"/>
            <a:t>.</a:t>
          </a:r>
          <a:endParaRPr lang="en-US" sz="2400" kern="1200"/>
        </a:p>
      </dsp:txBody>
      <dsp:txXfrm rot="10800000">
        <a:off x="0" y="987"/>
        <a:ext cx="6245265" cy="13800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A337F-22D6-2D42-8282-C8F30DBA82B9}">
      <dsp:nvSpPr>
        <dsp:cNvPr id="0" name=""/>
        <dsp:cNvSpPr/>
      </dsp:nvSpPr>
      <dsp:spPr>
        <a:xfrm>
          <a:off x="0" y="746052"/>
          <a:ext cx="4124758" cy="598893"/>
        </a:xfrm>
        <a:prstGeom prst="roundRect">
          <a:avLst/>
        </a:prstGeom>
        <a:gradFill rotWithShape="0">
          <a:gsLst>
            <a:gs pos="0">
              <a:schemeClr val="accent6"/>
            </a:gs>
            <a:gs pos="100000">
              <a:schemeClr val="accent6">
                <a:lumMod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 dirty="0"/>
            <a:t>Controller:</a:t>
          </a:r>
          <a:r>
            <a:rPr lang="tr-TR" sz="1500" b="0" i="0" kern="1200" baseline="0" dirty="0"/>
            <a:t> </a:t>
          </a:r>
          <a:r>
            <a:rPr lang="tr-TR" sz="1500" b="1" i="0" kern="1200" baseline="0" dirty="0"/>
            <a:t>TL494 CN</a:t>
          </a:r>
          <a:r>
            <a:rPr lang="tr-TR" sz="1500" b="0" i="0" kern="1200" baseline="0" dirty="0"/>
            <a:t> (Analog PWM Controller)</a:t>
          </a:r>
          <a:endParaRPr lang="en-US" sz="1500" kern="1200" dirty="0"/>
        </a:p>
      </dsp:txBody>
      <dsp:txXfrm>
        <a:off x="29236" y="775288"/>
        <a:ext cx="4066286" cy="540421"/>
      </dsp:txXfrm>
    </dsp:sp>
    <dsp:sp modelId="{E3D0248D-ACBD-FE4D-A140-1E6A4EF99F24}">
      <dsp:nvSpPr>
        <dsp:cNvPr id="0" name=""/>
        <dsp:cNvSpPr/>
      </dsp:nvSpPr>
      <dsp:spPr>
        <a:xfrm>
          <a:off x="0" y="1388146"/>
          <a:ext cx="4124758" cy="598893"/>
        </a:xfrm>
        <a:prstGeom prst="round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Objective:</a:t>
          </a:r>
          <a:r>
            <a:rPr lang="tr-TR" sz="1500" b="0" i="0" kern="1200" baseline="0"/>
            <a:t> Analog Controller Bonus.</a:t>
          </a:r>
          <a:endParaRPr lang="en-US" sz="1500" kern="1200"/>
        </a:p>
      </dsp:txBody>
      <dsp:txXfrm>
        <a:off x="29236" y="1417382"/>
        <a:ext cx="4066286" cy="540421"/>
      </dsp:txXfrm>
    </dsp:sp>
    <dsp:sp modelId="{E19CFCC9-5474-3343-8892-35A9C8F424BD}">
      <dsp:nvSpPr>
        <dsp:cNvPr id="0" name=""/>
        <dsp:cNvSpPr/>
      </dsp:nvSpPr>
      <dsp:spPr>
        <a:xfrm>
          <a:off x="0" y="2030239"/>
          <a:ext cx="4124758" cy="598893"/>
        </a:xfrm>
        <a:prstGeom prst="round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baseline="0"/>
            <a:t>Utilizing the </a:t>
          </a:r>
          <a:r>
            <a:rPr lang="tr-TR" sz="1500" b="1" i="0" kern="1200" baseline="0"/>
            <a:t>DTC (Dead-Time Control)</a:t>
          </a:r>
          <a:r>
            <a:rPr lang="tr-TR" sz="1500" b="0" i="0" kern="1200" baseline="0"/>
            <a:t> pin.</a:t>
          </a:r>
          <a:endParaRPr lang="en-US" sz="1500" kern="1200"/>
        </a:p>
      </dsp:txBody>
      <dsp:txXfrm>
        <a:off x="29236" y="2059475"/>
        <a:ext cx="4066286" cy="540421"/>
      </dsp:txXfrm>
    </dsp:sp>
    <dsp:sp modelId="{C74C7D6B-3E64-B646-9AAD-494C0B3E1F6C}">
      <dsp:nvSpPr>
        <dsp:cNvPr id="0" name=""/>
        <dsp:cNvSpPr/>
      </dsp:nvSpPr>
      <dsp:spPr>
        <a:xfrm>
          <a:off x="0" y="2672333"/>
          <a:ext cx="4124758" cy="598893"/>
        </a:xfrm>
        <a:prstGeom prst="roundRect">
          <a:avLst/>
        </a:prstGeom>
        <a:gradFill rotWithShape="0">
          <a:gsLst>
            <a:gs pos="0">
              <a:schemeClr val="accent6"/>
            </a:gs>
            <a:gs pos="100000">
              <a:schemeClr val="accent6">
                <a:lumMod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Controller:</a:t>
          </a:r>
          <a:r>
            <a:rPr lang="tr-TR" sz="1500" b="0" i="0" kern="1200" baseline="0"/>
            <a:t> </a:t>
          </a:r>
          <a:r>
            <a:rPr lang="tr-TR" sz="1500" b="1" i="0" kern="1200" baseline="0"/>
            <a:t>TL494 CN</a:t>
          </a:r>
          <a:r>
            <a:rPr lang="tr-TR" sz="1500" b="0" i="0" kern="1200" baseline="0"/>
            <a:t> (Analog PWM Controller)</a:t>
          </a:r>
          <a:endParaRPr lang="en-US" sz="1500" kern="1200"/>
        </a:p>
      </dsp:txBody>
      <dsp:txXfrm>
        <a:off x="29236" y="2701569"/>
        <a:ext cx="4066286" cy="540421"/>
      </dsp:txXfrm>
    </dsp:sp>
    <dsp:sp modelId="{C425B26B-8328-524B-9F63-89CA59AE75B4}">
      <dsp:nvSpPr>
        <dsp:cNvPr id="0" name=""/>
        <dsp:cNvSpPr/>
      </dsp:nvSpPr>
      <dsp:spPr>
        <a:xfrm>
          <a:off x="0" y="3314427"/>
          <a:ext cx="4124758" cy="598893"/>
        </a:xfrm>
        <a:prstGeom prst="round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0" i="0" kern="1200" baseline="0" dirty="0"/>
            <a:t>An </a:t>
          </a:r>
          <a:r>
            <a:rPr lang="tr-TR" sz="1500" b="0" i="0" kern="1200" baseline="0" dirty="0" err="1"/>
            <a:t>external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Capacitor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charges</a:t>
          </a:r>
          <a:r>
            <a:rPr lang="tr-TR" sz="1500" b="0" i="0" kern="1200" baseline="0" dirty="0"/>
            <a:t> at </a:t>
          </a:r>
          <a:r>
            <a:rPr lang="tr-TR" sz="1500" b="0" i="0" kern="1200" baseline="0" dirty="0" err="1"/>
            <a:t>startup</a:t>
          </a:r>
          <a:r>
            <a:rPr lang="tr-TR" sz="1500" b="0" i="0" kern="1200" baseline="0" dirty="0"/>
            <a:t> &gt;&gt; </a:t>
          </a:r>
          <a:r>
            <a:rPr lang="tr-TR" sz="1500" b="0" i="0" kern="1200" baseline="0" dirty="0" err="1"/>
            <a:t>Duty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Cycle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ramps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linearly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from</a:t>
          </a:r>
          <a:r>
            <a:rPr lang="tr-TR" sz="1500" b="0" i="0" kern="1200" baseline="0" dirty="0"/>
            <a:t> 0% </a:t>
          </a:r>
          <a:r>
            <a:rPr lang="tr-TR" sz="1500" b="0" i="0" kern="1200" baseline="0" dirty="0" err="1"/>
            <a:t>to</a:t>
          </a:r>
          <a:r>
            <a:rPr lang="tr-TR" sz="1500" b="0" i="0" kern="1200" baseline="0" dirty="0"/>
            <a:t> </a:t>
          </a:r>
          <a:r>
            <a:rPr lang="tr-TR" sz="1500" b="0" i="0" kern="1200" baseline="0" dirty="0" err="1"/>
            <a:t>Setpoint</a:t>
          </a:r>
          <a:r>
            <a:rPr lang="tr-TR" sz="1500" b="0" i="0" kern="1200" baseline="0" dirty="0"/>
            <a:t>.</a:t>
          </a:r>
          <a:endParaRPr lang="en-US" sz="1500" kern="1200" dirty="0"/>
        </a:p>
      </dsp:txBody>
      <dsp:txXfrm>
        <a:off x="29236" y="3343663"/>
        <a:ext cx="4066286" cy="540421"/>
      </dsp:txXfrm>
    </dsp:sp>
    <dsp:sp modelId="{F47D2076-06BB-684B-A8B5-9927A2463BBF}">
      <dsp:nvSpPr>
        <dsp:cNvPr id="0" name=""/>
        <dsp:cNvSpPr/>
      </dsp:nvSpPr>
      <dsp:spPr>
        <a:xfrm>
          <a:off x="0" y="3956521"/>
          <a:ext cx="4124758" cy="598893"/>
        </a:xfrm>
        <a:prstGeom prst="roundRect">
          <a:avLst/>
        </a:prstGeom>
        <a:gradFill rotWithShape="0">
          <a:gsLst>
            <a:gs pos="0">
              <a:schemeClr val="accent6"/>
            </a:gs>
            <a:gs pos="100000">
              <a:schemeClr val="accent6">
                <a:lumMod val="5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500" b="1" i="0" kern="1200" baseline="0"/>
            <a:t>Controller:</a:t>
          </a:r>
          <a:r>
            <a:rPr lang="tr-TR" sz="1500" b="0" i="0" kern="1200" baseline="0"/>
            <a:t> </a:t>
          </a:r>
          <a:r>
            <a:rPr lang="tr-TR" sz="1500" b="1" i="0" kern="1200" baseline="0"/>
            <a:t>TL494 CN</a:t>
          </a:r>
          <a:r>
            <a:rPr lang="tr-TR" sz="1500" b="0" i="0" kern="1200" baseline="0"/>
            <a:t> (Analog PWM Controller)</a:t>
          </a:r>
          <a:endParaRPr lang="en-US" sz="1500" kern="1200"/>
        </a:p>
      </dsp:txBody>
      <dsp:txXfrm>
        <a:off x="29236" y="3985757"/>
        <a:ext cx="4066286" cy="54042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3CE292-D0F6-3743-876C-B729167F3E0D}">
      <dsp:nvSpPr>
        <dsp:cNvPr id="0" name=""/>
        <dsp:cNvSpPr/>
      </dsp:nvSpPr>
      <dsp:spPr>
        <a:xfrm>
          <a:off x="0" y="0"/>
          <a:ext cx="10912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A0232-30C7-AB4D-A7F7-A4AFBEBE6B28}">
      <dsp:nvSpPr>
        <dsp:cNvPr id="0" name=""/>
        <dsp:cNvSpPr/>
      </dsp:nvSpPr>
      <dsp:spPr>
        <a:xfrm>
          <a:off x="0" y="0"/>
          <a:ext cx="10912929" cy="132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Conduction Losses: </a:t>
          </a:r>
          <a:r>
            <a:rPr lang="en-US" sz="2400" b="0" i="0" kern="1200" dirty="0"/>
            <a:t>The general formula for conduction loss is approximated as:</a:t>
          </a:r>
          <a:br>
            <a:rPr lang="en-US" sz="2400" b="0" i="0" kern="1200" dirty="0"/>
          </a:br>
          <a:br>
            <a:rPr lang="en-US" sz="2400" kern="1200" dirty="0"/>
          </a:br>
          <a:endParaRPr lang="en-US" sz="2400" kern="1200" dirty="0"/>
        </a:p>
      </dsp:txBody>
      <dsp:txXfrm>
        <a:off x="0" y="0"/>
        <a:ext cx="10912929" cy="1327887"/>
      </dsp:txXfrm>
    </dsp:sp>
    <dsp:sp modelId="{E59FFDD1-8BCA-5B4B-BF28-CD9B4E77BCAA}">
      <dsp:nvSpPr>
        <dsp:cNvPr id="0" name=""/>
        <dsp:cNvSpPr/>
      </dsp:nvSpPr>
      <dsp:spPr>
        <a:xfrm>
          <a:off x="0" y="1327887"/>
          <a:ext cx="10912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498D7-D3D6-494F-91DD-939D8EDD6DDD}">
      <dsp:nvSpPr>
        <dsp:cNvPr id="0" name=""/>
        <dsp:cNvSpPr/>
      </dsp:nvSpPr>
      <dsp:spPr>
        <a:xfrm>
          <a:off x="0" y="1327887"/>
          <a:ext cx="10912929" cy="132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For the IGBT (Assuming </a:t>
          </a:r>
          <a:r>
            <a:rPr lang="en-US" sz="2400" b="0" i="0" kern="1200"/>
            <a:t>𝑉𝐶𝐸(𝑠𝑎𝑡) ≈ 2.0 𝑉</a:t>
          </a:r>
          <a:r>
            <a:rPr lang="en-US" sz="2400" b="1" i="0" kern="1200"/>
            <a:t>at 20 A and Duty Cycle </a:t>
          </a:r>
          <a:r>
            <a:rPr lang="en-US" sz="2400" b="0" i="0" kern="1200"/>
            <a:t>𝐷 ≈ 0.5</a:t>
          </a:r>
          <a:r>
            <a:rPr lang="en-US" sz="2400" b="1" i="0" kern="1200"/>
            <a:t>):</a:t>
          </a:r>
          <a:r>
            <a:rPr lang="en-US" sz="2400" kern="1200"/>
            <a:t> </a:t>
          </a:r>
          <a:br>
            <a:rPr lang="en-US" sz="2400" kern="1200"/>
          </a:br>
          <a:endParaRPr lang="en-US" sz="2400" kern="1200"/>
        </a:p>
      </dsp:txBody>
      <dsp:txXfrm>
        <a:off x="0" y="1327887"/>
        <a:ext cx="10912929" cy="1327887"/>
      </dsp:txXfrm>
    </dsp:sp>
    <dsp:sp modelId="{6861E32F-C9E6-EE40-B188-11A07BA3BFA7}">
      <dsp:nvSpPr>
        <dsp:cNvPr id="0" name=""/>
        <dsp:cNvSpPr/>
      </dsp:nvSpPr>
      <dsp:spPr>
        <a:xfrm>
          <a:off x="0" y="2655774"/>
          <a:ext cx="10912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EFE39-B569-3E4B-BEAB-1E3CC111B4DE}">
      <dsp:nvSpPr>
        <dsp:cNvPr id="0" name=""/>
        <dsp:cNvSpPr/>
      </dsp:nvSpPr>
      <dsp:spPr>
        <a:xfrm>
          <a:off x="0" y="2655774"/>
          <a:ext cx="10912929" cy="132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dirty="0"/>
            <a:t>For the Diode (Assuming </a:t>
          </a:r>
          <a:r>
            <a:rPr lang="en-US" sz="2400" b="0" i="0" kern="1200" dirty="0"/>
            <a:t>𝑉𝑓 ≈ 1.5 𝑉</a:t>
          </a:r>
          <a:r>
            <a:rPr lang="en-US" sz="2400" b="1" i="0" kern="1200" dirty="0"/>
            <a:t>):</a:t>
          </a:r>
          <a:r>
            <a:rPr lang="en-US" sz="2400" kern="1200" dirty="0"/>
            <a:t> </a:t>
          </a:r>
          <a:br>
            <a:rPr lang="en-US" sz="2400" kern="1200" dirty="0"/>
          </a:br>
          <a:endParaRPr lang="en-US" sz="2400" kern="1200" dirty="0"/>
        </a:p>
      </dsp:txBody>
      <dsp:txXfrm>
        <a:off x="0" y="2655774"/>
        <a:ext cx="10912929" cy="1327887"/>
      </dsp:txXfrm>
    </dsp:sp>
    <dsp:sp modelId="{552DA5E0-6872-BF4D-A226-F2C80004CB42}">
      <dsp:nvSpPr>
        <dsp:cNvPr id="0" name=""/>
        <dsp:cNvSpPr/>
      </dsp:nvSpPr>
      <dsp:spPr>
        <a:xfrm>
          <a:off x="0" y="3983661"/>
          <a:ext cx="109129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6CAB2-7070-E142-8271-5F4754E32528}">
      <dsp:nvSpPr>
        <dsp:cNvPr id="0" name=""/>
        <dsp:cNvSpPr/>
      </dsp:nvSpPr>
      <dsp:spPr>
        <a:xfrm>
          <a:off x="0" y="3983661"/>
          <a:ext cx="10912929" cy="1327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/>
            <a:t>Total Conduction Loss:</a:t>
          </a:r>
          <a:r>
            <a:rPr lang="en-US" sz="2400" kern="1200"/>
            <a:t> </a:t>
          </a:r>
          <a:br>
            <a:rPr lang="en-US" sz="2400" kern="1200"/>
          </a:br>
          <a:endParaRPr lang="en-US" sz="2400" kern="1200"/>
        </a:p>
      </dsp:txBody>
      <dsp:txXfrm>
        <a:off x="0" y="3983661"/>
        <a:ext cx="10912929" cy="13278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8CBB98-398F-9E63-7D84-4319AC3AF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24B649F-3DD3-0981-F540-EBA19412C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6D1468-099C-3D56-AB1B-2B44CA3C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0BA9C1-25FD-EC0C-B020-64637582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8E203F5-783B-FF1C-6A8E-104CDEE9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096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75E070-B36E-CDAA-07A7-1F930B65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1A5F02-DF94-AD54-A266-F14B1CE2C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0FF1120-CDFB-637A-5F7F-A3A5DD75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C82641-7F1B-96DE-8156-2C4606A88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31DE830-24DC-C475-B1BB-39CD64F1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8984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C457EDB-7663-09D1-30EC-A0AB5AB3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9DB4F2E-D93F-19EF-A045-FC10B80CD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9D284D-8C45-FE8A-297F-05DFDB45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3BA6FE-86F5-477A-14C8-0361ADC8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2C25D3A-39EF-5966-7879-9F215135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496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6E0C509-8063-BD91-F136-25B0F5EA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133E83E-7791-60D6-ECA4-95CAD7006B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C9B1D15-C114-876E-57CF-3B84B40F1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3A02690-D1CE-E50F-0D41-50650DF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E8329F2-0A61-82FB-93E5-798F7F49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7CC470-2326-8626-B5F1-E6CAB677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881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37CFFC-A9FE-93BE-B289-59553F41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B8055AF-FE9C-5392-9EA2-9D1B4EC23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FB66FE0-A882-9069-CDE6-54D25647C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EC3C8C2-2BF4-FF0F-2799-9511A9D1A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5149435-C0B8-2FAD-ABED-34B109A3A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0E33B23-E69F-3E55-69E4-FD9654D3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CF71CFD-6295-993D-2BF0-DA88DE43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398499D-C017-82D4-DD65-48AD0D9B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71727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EA04AE2-F86C-F956-BCA0-FBC711F8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EE92F49-D59F-D04A-C121-6D987512B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53549CE-72F6-9CF8-40E9-8DB046A2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BCE1BC5-8EDC-6DBB-333C-DEE2ADD2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9606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7931CB8-A49A-CE66-BF8D-B80855E0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B7C118C-DC6C-23CD-C45B-90D2A433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D15C053-90D9-32F7-0D6A-73C67F68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34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7C675A-61F1-374D-7684-751D90E56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67DA076-92D8-37CB-457A-5B0BAB150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8F192DC-DF49-BF0E-6965-8FB0159A0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3C4E1D4-ADC3-E339-E2AD-EE34DD1E2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A691BC1-BC20-BAC7-DAEF-F54C8F4D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CCE14A3-AAD4-6635-8A0C-875E6768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662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11C845-195E-08D0-5B7E-F897B94A4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82876C7-6C61-4FFF-C982-315621AF5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659434E5-ADF6-AE5F-EA45-090F4D348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9394C70-9CE9-D51A-8B35-182BBDA2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2CE515A-DA78-FCA8-A09C-6B72957E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2A69BBC-1CF6-A573-C3C1-597AE19B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5077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678948E-4355-CF48-CD2A-9AF393A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A0582AA-D242-69FE-F411-4593162D8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EA0AC7D-BA77-8993-76FA-34508E96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163E29E-99B1-159C-BB85-D77912A7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BCBCBBA-56AB-AB78-0302-2978FE59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6690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DE4BE247-DB1F-C76E-A36E-7CFBD6A7B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F896A52-3098-0A52-2227-BDF67B117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5FA41A9-88AF-DC2D-1F06-4EEA4B0B1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51482EE-6A61-806F-C199-9A43D066B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6210AB-1E65-11E5-B06E-44263DA60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385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8E70071-9DC0-DFF5-9F2F-EDA1B73C2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B32C625-4769-88C4-EDE2-E81CBD2F2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36E4E42-72C3-AD05-361F-90DEDEE6C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A5FC1-EF56-FF4F-BE42-452FC9A76421}" type="datetimeFigureOut">
              <a:rPr lang="tr-TR" smtClean="0"/>
              <a:t>6.12.2025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CD72AAE-31C0-739C-1C69-81F784ED2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0722899-5A69-FE9F-CEAE-8DBB6CC39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6BC20-6091-E548-851B-4BA1FACCC7C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167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Page 9 | Wallpaper pink heart Images - Free Download on Freepik">
            <a:extLst>
              <a:ext uri="{FF2B5EF4-FFF2-40B4-BE49-F238E27FC236}">
                <a16:creationId xmlns:a16="http://schemas.microsoft.com/office/drawing/2014/main" id="{35D9E42D-7192-8CE7-FFAC-08AA0287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12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D1EF1D6-2563-8F74-896C-05C04466F1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38652" y="2586932"/>
            <a:ext cx="6114687" cy="386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tr-TR" altLang="tr-TR" sz="1800" dirty="0">
                <a:solidFill>
                  <a:schemeClr val="bg1"/>
                </a:solidFill>
              </a:rPr>
              <a:t>2025-2026 Fall</a:t>
            </a:r>
          </a:p>
          <a:p>
            <a:r>
              <a:rPr lang="tr-TR" b="1" dirty="0">
                <a:solidFill>
                  <a:schemeClr val="bg1"/>
                </a:solidFill>
              </a:rPr>
              <a:t>DC Motor Drive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6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POWERpuff</a:t>
            </a:r>
            <a:r>
              <a:rPr kumimoji="0" lang="tr-TR" altLang="tr-TR" sz="6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tr-TR" altLang="tr-TR" sz="6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Boys</a:t>
            </a:r>
            <a:endParaRPr kumimoji="0" lang="tr-TR" altLang="tr-TR" sz="6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1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Mohammad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Lotfi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2419364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Arda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Yungucu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2517357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Hüseyin Umut Suna 2516938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5" name="Başlık 4">
            <a:extLst>
              <a:ext uri="{FF2B5EF4-FFF2-40B4-BE49-F238E27FC236}">
                <a16:creationId xmlns:a16="http://schemas.microsoft.com/office/drawing/2014/main" id="{1E76A2E8-1EE8-89E9-CA87-FB8BCF381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6" y="199332"/>
            <a:ext cx="9144000" cy="2387600"/>
          </a:xfrm>
        </p:spPr>
        <p:txBody>
          <a:bodyPr/>
          <a:lstStyle/>
          <a:p>
            <a:r>
              <a:rPr lang="tr-TR" dirty="0">
                <a:solidFill>
                  <a:schemeClr val="bg1"/>
                </a:solidFill>
                <a:latin typeface="+mn-lt"/>
              </a:rPr>
              <a:t>EE463 Hardware Project</a:t>
            </a:r>
          </a:p>
        </p:txBody>
      </p:sp>
    </p:spTree>
    <p:extLst>
      <p:ext uri="{BB962C8B-B14F-4D97-AF65-F5344CB8AC3E}">
        <p14:creationId xmlns:p14="http://schemas.microsoft.com/office/powerpoint/2010/main" val="130566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Başlık 1">
            <a:extLst>
              <a:ext uri="{FF2B5EF4-FFF2-40B4-BE49-F238E27FC236}">
                <a16:creationId xmlns:a16="http://schemas.microsoft.com/office/drawing/2014/main" id="{723B54BC-D96F-E933-71A4-C8AD5E56A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tr-TR" sz="4800" b="1">
                <a:solidFill>
                  <a:schemeClr val="bg1"/>
                </a:solidFill>
                <a:latin typeface="+mn-lt"/>
              </a:rPr>
              <a:t>Topology Selection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F43B62B8-729A-A312-23A2-87B88E9540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7924109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414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89D13EE-4E64-5CFC-3CC7-2E19AC211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488" y="640547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tr-TR" altLang="tr-TR" sz="6200" b="1">
                <a:latin typeface="+mn-lt"/>
              </a:rPr>
              <a:t>The Problem with the Single Phase Rectifier</a:t>
            </a:r>
            <a:endParaRPr lang="tr-TR" sz="6200" b="1">
              <a:latin typeface="+mn-lt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D7BB6E7-BE94-9DFA-3102-A03EC052A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432165"/>
              </p:ext>
            </p:extLst>
          </p:nvPr>
        </p:nvGraphicFramePr>
        <p:xfrm>
          <a:off x="5153506" y="634326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628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069F2B4-D23F-C8E9-0F44-6A28910C1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tr-TR" altLang="tr-TR" sz="6800" b="1">
                <a:latin typeface="+mn-lt"/>
              </a:rPr>
              <a:t>The Solution:</a:t>
            </a:r>
            <a:endParaRPr lang="tr-TR" sz="6800"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739A5F98-AA58-51A4-2A3B-1E3BEC0F2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98730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161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0F88B4-0240-AD8F-1B2D-684B6580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143501"/>
            <a:ext cx="9144000" cy="7573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b="1"/>
              <a:t>Our Design: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6E7D98-3D55-80C4-C8EA-40EC70EB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6692" y="4888672"/>
            <a:ext cx="10439007" cy="123363"/>
            <a:chOff x="876692" y="4888672"/>
            <a:chExt cx="10439007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A306F60-DCBC-4BDA-A680-F7600562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C26A085-CFBC-6FED-8A8F-E9371A3A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2D5060E-294D-BD77-6265-20252183F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F731FAF-6AA0-69B2-988A-E78AC74E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065" y="132120"/>
            <a:ext cx="10117735" cy="469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58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784FBD-BBBA-A717-CA4A-CFAB276C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tr-TR" sz="5000" b="1">
                <a:solidFill>
                  <a:srgbClr val="FFFFFF"/>
                </a:solidFill>
                <a:latin typeface="+mn-lt"/>
              </a:rPr>
              <a:t>Component Selection Strategy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31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200EA3A1-5AF5-C2D6-EC5C-25C41CE4C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7233" y="518400"/>
            <a:ext cx="4771607" cy="583794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1. Input Stage:</a:t>
            </a:r>
            <a:endParaRPr kumimoji="0" lang="tr-TR" altLang="tr-TR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Component: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Industrial 3-Phase Bridge Module (35A / 1000V).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Source: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External procurement.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Simplifies wiring and robustness compared to discrete diodes.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2. Power Stage (Available in Lab):</a:t>
            </a:r>
            <a:endParaRPr kumimoji="0" lang="tr-TR" altLang="tr-TR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IGBT: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IXGH24N60C4D1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(600V / 30A).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Diode: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MUR1560G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(Ultrafast, trr&lt; 60ns).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tr-TR" altLang="tr-TR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3. Safety Upgrade:</a:t>
            </a:r>
            <a:endParaRPr kumimoji="0" lang="tr-TR" altLang="tr-TR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Capacitor: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</a:t>
            </a:r>
            <a:r>
              <a:rPr kumimoji="0" lang="tr-TR" altLang="tr-TR" sz="2000" b="1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470 mikroF / 450 V</a:t>
            </a:r>
            <a:r>
              <a:rPr kumimoji="0" lang="tr-TR" altLang="tr-TR" sz="2000" b="0" i="0" u="none" strike="noStrike" cap="none" normalizeH="0" baseline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</a:rPr>
              <a:t> (for 300V DC Bus safety margin).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tr-TR" altLang="tr-TR" sz="2000" b="0" i="0" u="none" strike="noStrike" cap="none" normalizeH="0" baseline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531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CFCDAF-46CE-4056-866C-5EE9122FD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!!Rectangle">
            <a:extLst>
              <a:ext uri="{FF2B5EF4-FFF2-40B4-BE49-F238E27FC236}">
                <a16:creationId xmlns:a16="http://schemas.microsoft.com/office/drawing/2014/main" id="{9F587EB1-1674-4B8B-88AD-2A81FFFB5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05DA7D9-A64B-8F1C-3639-30F2B1B1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934"/>
            <a:ext cx="5257801" cy="5181523"/>
          </a:xfrm>
        </p:spPr>
        <p:txBody>
          <a:bodyPr anchor="b">
            <a:normAutofit/>
          </a:bodyPr>
          <a:lstStyle/>
          <a:p>
            <a:r>
              <a:rPr lang="tr-TR" sz="8000" b="1">
                <a:solidFill>
                  <a:srgbClr val="FFFFFF"/>
                </a:solidFill>
                <a:latin typeface="+mn-lt"/>
              </a:rPr>
              <a:t>Control Strategy (Analog Soft Start):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2814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1594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7274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D01F5BD-27E6-7F20-567A-65B8CD2FCE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640945"/>
              </p:ext>
            </p:extLst>
          </p:nvPr>
        </p:nvGraphicFramePr>
        <p:xfrm>
          <a:off x="7229042" y="698643"/>
          <a:ext cx="4124758" cy="5301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295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C65359-4ACF-5677-5AF9-193DDE53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tr-TR" sz="5400" b="1">
                <a:latin typeface="+mn-lt"/>
              </a:rPr>
              <a:t>Simulation Results (Inrush Mitigation):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8D626A-9952-C3EE-7F9F-54B59A744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706624"/>
            <a:ext cx="6894576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</a:rPr>
              <a:t>Risk Analysis (Hard Start):</a:t>
            </a:r>
            <a:endParaRPr kumimoji="0" lang="tr-TR" altLang="tr-TR" sz="2200" b="0" i="0" u="none" strike="noStrike" cap="none" normalizeH="0" baseline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Simulation showed </a:t>
            </a: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</a:rPr>
              <a:t>120 A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 inrush current without soft start.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</a:rPr>
              <a:t>Verdict: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 Immediate failure of diode and IGBT.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</a:rPr>
              <a:t>Solution (Soft Start):</a:t>
            </a:r>
            <a:endParaRPr kumimoji="0" lang="tr-TR" altLang="tr-TR" sz="2200" b="0" i="0" u="none" strike="noStrike" cap="none" normalizeH="0" baseline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With Ramp Logic, peak current is limited to </a:t>
            </a: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</a:rPr>
              <a:t>~9 A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200" b="1" i="0" u="none" strike="noStrike" cap="none" normalizeH="0" baseline="0">
                <a:ln>
                  <a:noFill/>
                </a:ln>
                <a:effectLst/>
              </a:rPr>
              <a:t>Result:</a:t>
            </a:r>
            <a:r>
              <a:rPr kumimoji="0" lang="tr-TR" altLang="tr-TR" sz="2200" b="0" i="0" u="none" strike="noStrike" cap="none" normalizeH="0" baseline="0">
                <a:ln>
                  <a:noFill/>
                </a:ln>
                <a:effectLst/>
              </a:rPr>
              <a:t> Safe operation within the SOA (Safe Operating Area) of components.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22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61E223C8-69D1-FC4C-EF3C-39205ED5A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505" y="696685"/>
            <a:ext cx="4772950" cy="2393404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158EB91-7535-C170-DAF8-8C5FAD071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505" y="3684449"/>
            <a:ext cx="4772950" cy="237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2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3833D1-AADC-619D-FD6B-F084E61C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tr-TR" sz="3600" b="1">
                <a:latin typeface="+mn-lt"/>
              </a:rPr>
              <a:t>Performance Verification: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E711963-1F49-4D38-B269-9336CB590A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367" b="6663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12A92B4-584C-62FD-18A0-BE74AA7221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3982" y="3752850"/>
            <a:ext cx="7485413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ctr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</a:rPr>
              <a:t>Output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</a:rPr>
              <a:t>Stability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Target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: 180 V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Output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Operating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Duty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Cycle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: D = 70%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Simulation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)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vs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58% (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Theoretical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)</a:t>
            </a:r>
            <a:r>
              <a:rPr lang="tr-TR" altLang="tr-TR" sz="1600" baseline="30000" dirty="0"/>
              <a:t>.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1" u="none" strike="noStrike" cap="none" normalizeH="0" baseline="0" dirty="0" err="1">
                <a:ln>
                  <a:noFill/>
                </a:ln>
                <a:effectLst/>
              </a:rPr>
              <a:t>Reason</a:t>
            </a:r>
            <a:r>
              <a:rPr kumimoji="0" lang="tr-TR" altLang="tr-TR" sz="1600" b="0" i="1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1" u="none" strike="noStrike" cap="none" normalizeH="0" baseline="0" dirty="0" err="1">
                <a:ln>
                  <a:noFill/>
                </a:ln>
                <a:effectLst/>
              </a:rPr>
              <a:t>for</a:t>
            </a:r>
            <a:r>
              <a:rPr kumimoji="0" lang="tr-TR" altLang="tr-TR" sz="1600" b="0" i="1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1" u="none" strike="noStrike" cap="none" normalizeH="0" baseline="0" dirty="0" err="1">
                <a:ln>
                  <a:noFill/>
                </a:ln>
                <a:effectLst/>
              </a:rPr>
              <a:t>difference</a:t>
            </a:r>
            <a:r>
              <a:rPr kumimoji="0" lang="tr-TR" altLang="tr-TR" sz="1600" b="0" i="1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Real-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world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voltage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drops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(V_IGBT = 2V,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Vdiode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= 1.5V)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included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in High-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Fidelity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model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</a:rPr>
              <a:t>Ripple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</a:rPr>
              <a:t>Check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kumimoji="0" lang="tr-TR" altLang="tr-TR" sz="1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Switching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Frequency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: 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</a:rPr>
              <a:t>20 kHz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Ripple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Current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: &lt; 0.5 A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600" b="1" i="0" u="none" strike="noStrike" cap="none" normalizeH="0" baseline="0" dirty="0" err="1">
                <a:ln>
                  <a:noFill/>
                </a:ln>
                <a:effectLst/>
              </a:rPr>
              <a:t>Conclusion</a:t>
            </a:r>
            <a:r>
              <a:rPr kumimoji="0" lang="tr-TR" altLang="tr-TR" sz="16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Motor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inductance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(24.5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mH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) is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sufficient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;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no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external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inductor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tr-TR" altLang="tr-TR" sz="1600" b="0" i="0" u="none" strike="noStrike" cap="none" normalizeH="0" baseline="0" dirty="0" err="1">
                <a:ln>
                  <a:noFill/>
                </a:ln>
                <a:effectLst/>
              </a:rPr>
              <a:t>needed</a:t>
            </a:r>
            <a:r>
              <a:rPr kumimoji="0" lang="tr-TR" altLang="tr-TR" sz="16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11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6704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742FA70-108B-48F4-F404-A5B13DBD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3800" b="1" i="0" dirty="0">
                <a:effectLst/>
                <a:latin typeface="+mn-lt"/>
              </a:rPr>
              <a:t>ANALYTICAL CALCULATIONS</a:t>
            </a:r>
            <a:r>
              <a:rPr lang="en-US" sz="3800" dirty="0">
                <a:latin typeface="+mn-lt"/>
              </a:rPr>
              <a:t> </a:t>
            </a:r>
            <a:br>
              <a:rPr lang="en-US" sz="3800" dirty="0">
                <a:latin typeface="+mn-lt"/>
              </a:rPr>
            </a:br>
            <a:endParaRPr lang="tr-TR" sz="3800" dirty="0">
              <a:latin typeface="+mn-lt"/>
            </a:endParaRP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921CB4-934C-268D-F97E-AD8ABD906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2193149"/>
            <a:ext cx="6894576" cy="34838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700" b="1" i="0" dirty="0">
              <a:effectLst/>
            </a:endParaRPr>
          </a:p>
          <a:p>
            <a:pPr marL="0" indent="0">
              <a:buNone/>
            </a:pPr>
            <a:endParaRPr lang="en-US" sz="700" b="1" dirty="0"/>
          </a:p>
          <a:p>
            <a:pPr marL="0" indent="0">
              <a:buNone/>
            </a:pPr>
            <a:r>
              <a:rPr lang="en-US" sz="3200" b="1" i="0" dirty="0">
                <a:effectLst/>
              </a:rPr>
              <a:t>Rectifier Output Voltage: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b="0" i="0" dirty="0">
                <a:effectLst/>
              </a:rPr>
              <a:t>𝑉𝑑𝑐 ≈ 1.35 × 𝑉𝐿𝐿 = 1.35 × 230 V ≈ 310.5 V</a:t>
            </a:r>
          </a:p>
          <a:p>
            <a:pPr marL="0" indent="0">
              <a:buNone/>
            </a:pPr>
            <a:br>
              <a:rPr lang="en-US" sz="700" dirty="0"/>
            </a:b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sz="700" b="0" i="0" dirty="0">
              <a:effectLst/>
            </a:endParaRPr>
          </a:p>
          <a:p>
            <a:pPr marL="0" indent="0">
              <a:buNone/>
            </a:pPr>
            <a:endParaRPr lang="en-US" sz="700" b="0" i="0" dirty="0">
              <a:effectLst/>
            </a:endParaRPr>
          </a:p>
          <a:p>
            <a:pPr marL="0" indent="0">
              <a:buNone/>
            </a:pPr>
            <a:endParaRPr lang="en-US" sz="700" b="0" i="0" dirty="0">
              <a:effectLst/>
            </a:endParaRPr>
          </a:p>
          <a:p>
            <a:pPr marL="0" indent="0">
              <a:buNone/>
            </a:pPr>
            <a:br>
              <a:rPr lang="en-US" sz="700" dirty="0"/>
            </a:br>
            <a:endParaRPr lang="en-US" sz="700" dirty="0"/>
          </a:p>
        </p:txBody>
      </p:sp>
      <p:pic>
        <p:nvPicPr>
          <p:cNvPr id="17" name="Picture 16" descr="metin, yazı tipi, ekran görüntüsü, makbu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9CCB725-732E-AC6C-3862-799EDDDA2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742" y="4172622"/>
            <a:ext cx="5908518" cy="2304320"/>
          </a:xfrm>
          <a:prstGeom prst="rect">
            <a:avLst/>
          </a:prstGeom>
        </p:spPr>
      </p:pic>
      <p:pic>
        <p:nvPicPr>
          <p:cNvPr id="15" name="Picture 14" descr="yazı tipi, metin, çizgi, beyaz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293A99A1-BD72-176B-080A-595211092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43" y="4666414"/>
            <a:ext cx="5161607" cy="13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0BBEC3-83D0-BFF3-B31E-878D437D7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A discrepancy was observed between the theoretical duty cycle (𝐷𝑖𝑑𝑒𝑎𝑙 ≈ 0.58) and the</a:t>
            </a:r>
            <a:br>
              <a:rPr lang="en-US" sz="2200" dirty="0"/>
            </a:br>
            <a:r>
              <a:rPr lang="en-US" sz="2200" dirty="0"/>
              <a:t>simulation value (𝐷𝑠𝑖𝑚 ≈ 0.7) required to achieve the 180 V output. This is an expected</a:t>
            </a:r>
            <a:br>
              <a:rPr lang="en-US" sz="2200" dirty="0"/>
            </a:br>
            <a:r>
              <a:rPr lang="en-US" sz="2200" dirty="0"/>
              <a:t>outcome of the </a:t>
            </a:r>
            <a:r>
              <a:rPr lang="en-US" sz="2200" b="1" dirty="0"/>
              <a:t>High-Fidelity modeling </a:t>
            </a:r>
            <a:r>
              <a:rPr lang="en-US" sz="2200" dirty="0"/>
              <a:t>and is attributed to the following real-world factors: </a:t>
            </a:r>
          </a:p>
          <a:p>
            <a:pPr marL="0" indent="0">
              <a:buNone/>
            </a:pPr>
            <a:br>
              <a:rPr lang="en-US" sz="2200" dirty="0"/>
            </a:br>
            <a:r>
              <a:rPr lang="en-US" sz="2200" b="1" dirty="0"/>
              <a:t>1. Semiconductor Voltage Drops</a:t>
            </a:r>
          </a:p>
          <a:p>
            <a:pPr marL="0" indent="0">
              <a:buNone/>
            </a:pPr>
            <a:r>
              <a:rPr lang="da-DK" sz="2200" b="1" dirty="0"/>
              <a:t>2. DC Link </a:t>
            </a:r>
            <a:r>
              <a:rPr lang="da-DK" sz="2200" b="1" dirty="0" err="1"/>
              <a:t>Voltage</a:t>
            </a:r>
            <a:r>
              <a:rPr lang="da-DK" sz="2200" b="1" dirty="0"/>
              <a:t> Sag</a:t>
            </a:r>
            <a:r>
              <a:rPr lang="da-DK" sz="2200" dirty="0"/>
              <a:t> </a:t>
            </a:r>
            <a:br>
              <a:rPr lang="da-DK" sz="2200" dirty="0"/>
            </a:br>
            <a:br>
              <a:rPr lang="en-US" sz="2200" dirty="0"/>
            </a:br>
            <a:r>
              <a:rPr lang="en-US" sz="2200" dirty="0"/>
              <a:t>To compensate for these cumulative losses and the DC link sag, the Duty Cycle must be</a:t>
            </a:r>
            <a:br>
              <a:rPr lang="en-US" sz="2200" dirty="0"/>
            </a:br>
            <a:r>
              <a:rPr lang="en-US" sz="2200" dirty="0"/>
              <a:t>increased from the theoretical </a:t>
            </a:r>
            <a:r>
              <a:rPr lang="en-US" sz="2200" b="1" dirty="0"/>
              <a:t>58% to approximately 70% </a:t>
            </a:r>
            <a:r>
              <a:rPr lang="en-US" sz="2200" dirty="0"/>
              <a:t>(𝐷 ≈ 0.7) </a:t>
            </a:r>
            <a:br>
              <a:rPr lang="en-US" sz="2200" dirty="0"/>
            </a:br>
            <a:endParaRPr lang="en-US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4113859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C86F-F1D8-B026-EED6-3E58DAC64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47" y="-295217"/>
            <a:ext cx="11498705" cy="2546217"/>
          </a:xfrm>
        </p:spPr>
        <p:txBody>
          <a:bodyPr>
            <a:no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+mn-lt"/>
              </a:rPr>
              <a:t>THERMAL CALCULATIONS</a:t>
            </a:r>
            <a:r>
              <a:rPr lang="en-US" dirty="0">
                <a:latin typeface="+mn-lt"/>
              </a:rPr>
              <a:t> 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369C803-13C6-A652-A557-2A059EC83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6311541"/>
              </p:ext>
            </p:extLst>
          </p:nvPr>
        </p:nvGraphicFramePr>
        <p:xfrm>
          <a:off x="346647" y="1203867"/>
          <a:ext cx="10912929" cy="5311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7F1D038-A50A-D946-2F9F-69124C06AA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647" y="1638318"/>
            <a:ext cx="3903111" cy="841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820524-7351-E510-7562-3A26F1284D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871" y="2964203"/>
            <a:ext cx="3903112" cy="7754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839A6B-9118-37E5-A861-B257F0430B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871" y="4276809"/>
            <a:ext cx="5520039" cy="841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A82A562-A14B-F293-C6D7-B98A58C514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647" y="5654133"/>
            <a:ext cx="6307799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65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956C-E0D3-CC48-3C41-1763BF03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9229"/>
            <a:ext cx="10700657" cy="903568"/>
          </a:xfrm>
        </p:spPr>
        <p:txBody>
          <a:bodyPr>
            <a:noAutofit/>
          </a:bodyPr>
          <a:lstStyle/>
          <a:p>
            <a:r>
              <a:rPr lang="en-US" sz="4800" b="1" i="0" dirty="0">
                <a:solidFill>
                  <a:srgbClr val="000000"/>
                </a:solidFill>
                <a:effectLst/>
                <a:latin typeface="+mn-lt"/>
              </a:rPr>
              <a:t>THERMAL CALCULATIONS</a:t>
            </a:r>
            <a:endParaRPr lang="en-US" sz="48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9538F-B659-429D-33BA-595B3EC8E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436914"/>
            <a:ext cx="10700657" cy="5274129"/>
          </a:xfrm>
        </p:spPr>
        <p:txBody>
          <a:bodyPr/>
          <a:lstStyle/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</a:rPr>
              <a:t>Switching Losses (Frequency Dependent)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</a:rPr>
              <a:t>1. IGBT Switching Loss (IXGH24N60C4D1)</a:t>
            </a:r>
            <a:br>
              <a:rPr lang="en-US" sz="1800" b="1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Using the datasheet values for Turn-On (Eon) and Turn-Off (</a:t>
            </a:r>
            <a:r>
              <a:rPr lang="en-US" sz="1800" b="0" i="0" dirty="0" err="1">
                <a:solidFill>
                  <a:srgbClr val="000000"/>
                </a:solidFill>
                <a:effectLst/>
              </a:rPr>
              <a:t>Eoff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) energy at the rated test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conditions (360 V, 24 A), we scaled them to our operating point (310 V, 20 A).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Scaling Factor (K):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Total Switching Energy per Cycle: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Power Calculation: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b="1" i="0" dirty="0">
                <a:solidFill>
                  <a:srgbClr val="000000"/>
                </a:solidFill>
                <a:effectLst/>
              </a:rPr>
              <a:t>2. Diode Reverse Recovery Loss (MUR1560G)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Diode Loss Equation: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b="1" i="0" dirty="0">
                <a:solidFill>
                  <a:srgbClr val="000000"/>
                </a:solidFill>
                <a:effectLst/>
              </a:rPr>
              <a:t>Total Switching Loss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16773-FF89-D3C1-84BF-ACA81D7A8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990" y="2796248"/>
            <a:ext cx="3924848" cy="285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89546-850F-9F99-B24C-7920415F5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413" y="3256155"/>
            <a:ext cx="5010849" cy="762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F307D4-A8AF-AD81-BE1C-274658687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990" y="4438974"/>
            <a:ext cx="5553850" cy="3810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4F4D1B-F8CE-58DB-2CCA-31FE6B7F6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6321" y="5240740"/>
            <a:ext cx="4372585" cy="3238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54E98B-F300-D938-9436-0B9A230E0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6321" y="5608350"/>
            <a:ext cx="3334215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98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968AD-D1F2-03D2-48ED-7BD4CC976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 b="1" i="0">
                <a:solidFill>
                  <a:srgbClr val="FFFFFF"/>
                </a:solidFill>
                <a:effectLst/>
                <a:latin typeface="+mn-lt"/>
              </a:rPr>
              <a:t>Additional System Losses</a:t>
            </a:r>
            <a:r>
              <a:rPr lang="en-US" sz="5600">
                <a:solidFill>
                  <a:srgbClr val="FFFFFF"/>
                </a:solidFill>
                <a:latin typeface="+mn-lt"/>
              </a:rPr>
              <a:t> </a:t>
            </a:r>
            <a:br>
              <a:rPr lang="en-US" sz="5600">
                <a:solidFill>
                  <a:srgbClr val="FFFFFF"/>
                </a:solidFill>
                <a:latin typeface="+mn-lt"/>
              </a:rPr>
            </a:br>
            <a:endParaRPr lang="en-US" sz="56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C2371-7EE7-518F-2E2F-2492A30BA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  <a:t>While the IGBT and Diode are the primary concerns for the main heatsink, other components</a:t>
            </a:r>
            <a:b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  <a:t>also contribute to the system’s thermal load:</a:t>
            </a:r>
          </a:p>
          <a:p>
            <a:pPr marL="0" indent="0">
              <a:buNone/>
            </a:pPr>
            <a:b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  <a:t>- Input Rectifier (SQL3510): Approximately 15 W conduction loss.</a:t>
            </a:r>
          </a:p>
          <a:p>
            <a:pPr marL="0" indent="0">
              <a:buNone/>
            </a:pPr>
            <a:b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000" b="0" i="0">
                <a:solidFill>
                  <a:schemeClr val="tx1">
                    <a:alpha val="80000"/>
                  </a:schemeClr>
                </a:solidFill>
                <a:effectLst/>
              </a:rPr>
              <a:t>- DC Link Capacitor (470 µF, ESR ≈ 0.2 Ω): Approximately 5 W dissipation.</a:t>
            </a: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 </a:t>
            </a:r>
            <a:br>
              <a:rPr lang="en-US" sz="2000">
                <a:solidFill>
                  <a:schemeClr val="tx1">
                    <a:alpha val="80000"/>
                  </a:schemeClr>
                </a:solidFill>
              </a:rPr>
            </a:b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65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B9F7-FB0F-7059-E2B1-B49C1514E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681037"/>
            <a:ext cx="10515600" cy="892175"/>
          </a:xfrm>
        </p:spPr>
        <p:txBody>
          <a:bodyPr>
            <a:noAutofit/>
          </a:bodyPr>
          <a:lstStyle/>
          <a:p>
            <a:r>
              <a:rPr lang="en-US" sz="4800" b="1" i="0" dirty="0">
                <a:solidFill>
                  <a:srgbClr val="000000"/>
                </a:solidFill>
                <a:effectLst/>
                <a:latin typeface="+mn-lt"/>
              </a:rPr>
              <a:t>Junction Temperature Verification</a:t>
            </a:r>
            <a:r>
              <a:rPr lang="en-US" sz="4800" dirty="0">
                <a:latin typeface="+mn-lt"/>
              </a:rPr>
              <a:t> </a:t>
            </a:r>
            <a:br>
              <a:rPr lang="en-US" sz="4800" dirty="0">
                <a:latin typeface="+mn-lt"/>
              </a:rPr>
            </a:br>
            <a:endParaRPr lang="en-US" sz="48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46B5F-BCEC-0BF6-A1AB-27CD9BA86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371600"/>
            <a:ext cx="11092543" cy="4805363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To validate the cooling system design, we calculate the expected Junction Temperature (</a:t>
            </a:r>
            <a:r>
              <a:rPr lang="en-US" sz="1800" b="0" i="0" dirty="0" err="1">
                <a:solidFill>
                  <a:srgbClr val="000000"/>
                </a:solidFill>
                <a:effectLst/>
              </a:rPr>
              <a:t>Tj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) of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the components under full load, assuming an Ambient Temperature (Ta) of 25°C and an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Active Fan Cooling system with a thermal resistance of </a:t>
            </a:r>
            <a:r>
              <a:rPr lang="en-US" sz="1800" b="0" i="0" dirty="0" err="1">
                <a:solidFill>
                  <a:srgbClr val="000000"/>
                </a:solidFill>
                <a:effectLst/>
              </a:rPr>
              <a:t>RθSA</a:t>
            </a:r>
            <a:r>
              <a:rPr lang="en-US" sz="1800" b="0" i="0" dirty="0">
                <a:solidFill>
                  <a:srgbClr val="000000"/>
                </a:solidFill>
                <a:effectLst/>
              </a:rPr>
              <a:t> = 1.0°C/W.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b="1" i="0" dirty="0">
                <a:solidFill>
                  <a:srgbClr val="000000"/>
                </a:solidFill>
                <a:effectLst/>
              </a:rPr>
              <a:t>1. Heatsink Temperature Rise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</a:rPr>
              <a:t>Heatsink Temperature: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</a:rPr>
              <a:t>2. IGBT Junction Temperature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B0EAD-8AD8-A22B-C1B4-BC8C45786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838" y="2768354"/>
            <a:ext cx="5363323" cy="27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342C6-06F8-557D-8ABF-2E86B2656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265" y="3321780"/>
            <a:ext cx="4258269" cy="905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8E7347-7D99-D63C-CC47-2532145FE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523" y="5233854"/>
            <a:ext cx="4686954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9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B3E7C-B036-39CC-C4E7-52EC636F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i="0" dirty="0">
                <a:solidFill>
                  <a:srgbClr val="000000"/>
                </a:solidFill>
                <a:effectLst/>
                <a:latin typeface="+mn-lt"/>
              </a:rPr>
              <a:t>Junction Temperature Verification</a:t>
            </a:r>
            <a:endParaRPr lang="en-US" sz="48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03AB-3126-D6D9-B854-144224554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</a:rPr>
              <a:t>3. Diode Junction Temperature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i="0" dirty="0">
                <a:solidFill>
                  <a:srgbClr val="000000"/>
                </a:solidFill>
                <a:effectLst/>
              </a:rPr>
              <a:t>Conclusion</a:t>
            </a:r>
            <a:br>
              <a:rPr lang="en-US" sz="1800" b="1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The thermal analysis confirms that dissipating the total system heat (~66.5 W) requires active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cooling. With the selected Aluminum Heatsink + Fan combination, the component junction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temperatures stabilize at approximately 122°C. This provides a safety margin of roughly 28°C</a:t>
            </a:r>
            <a:br>
              <a:rPr lang="en-US" sz="1800" b="0" i="0" dirty="0">
                <a:solidFill>
                  <a:srgbClr val="000000"/>
                </a:solidFill>
                <a:effectLst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</a:rPr>
              <a:t>below the absolute maximum rating (150°C)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142B13-B56E-524A-CC5A-2D8B5BF3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413" y="2668250"/>
            <a:ext cx="6419173" cy="1101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92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911</Words>
  <Application>Microsoft Macintosh PowerPoint</Application>
  <PresentationFormat>Geniş ekran</PresentationFormat>
  <Paragraphs>97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Teması</vt:lpstr>
      <vt:lpstr>EE463 Hardware Project</vt:lpstr>
      <vt:lpstr>Topology Selection</vt:lpstr>
      <vt:lpstr>The Problem with the Single Phase Rectifier</vt:lpstr>
      <vt:lpstr>The Solution:</vt:lpstr>
      <vt:lpstr>Our Design:</vt:lpstr>
      <vt:lpstr>Component Selection Strategy</vt:lpstr>
      <vt:lpstr>Control Strategy (Analog Soft Start):</vt:lpstr>
      <vt:lpstr>Simulation Results (Inrush Mitigation):</vt:lpstr>
      <vt:lpstr>Performance Verification:</vt:lpstr>
      <vt:lpstr>ANALYTICAL CALCULATIONS  </vt:lpstr>
      <vt:lpstr>PowerPoint Sunusu</vt:lpstr>
      <vt:lpstr>THERMAL CALCULATIONS  </vt:lpstr>
      <vt:lpstr>THERMAL CALCULATIONS</vt:lpstr>
      <vt:lpstr>Additional System Losses  </vt:lpstr>
      <vt:lpstr>Junction Temperature Verification  </vt:lpstr>
      <vt:lpstr>Junction Temperature Verification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Hüseyin Umut Suna</dc:creator>
  <cp:lastModifiedBy>Hüseyin Umut Suna</cp:lastModifiedBy>
  <cp:revision>7</cp:revision>
  <dcterms:created xsi:type="dcterms:W3CDTF">2025-12-06T08:07:29Z</dcterms:created>
  <dcterms:modified xsi:type="dcterms:W3CDTF">2025-12-06T09:16:21Z</dcterms:modified>
</cp:coreProperties>
</file>